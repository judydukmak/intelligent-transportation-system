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grandir Bold" panose="020B0604020202020204" charset="0"/>
      <p:regular r:id="rId14"/>
    </p:embeddedFont>
    <p:embeddedFont>
      <p:font typeface="Arimo Bold" panose="020B0604020202020204" charset="0"/>
      <p:regular r:id="rId15"/>
    </p:embeddedFont>
    <p:embeddedFont>
      <p:font typeface="Canva Sans" panose="020B0604020202020204" charset="0"/>
      <p:regular r:id="rId16"/>
    </p:embeddedFont>
    <p:embeddedFont>
      <p:font typeface="Canva Sans Bold" panose="020B0604020202020204" charset="0"/>
      <p:regular r:id="rId17"/>
    </p:embeddedFont>
    <p:embeddedFont>
      <p:font typeface="Poppins" panose="00000500000000000000" pitchFamily="2" charset="0"/>
      <p:regular r:id="rId18"/>
      <p:bold r:id="rId19"/>
      <p:italic r:id="rId20"/>
      <p:boldItalic r:id="rId21"/>
    </p:embeddedFont>
    <p:embeddedFont>
      <p:font typeface="Poppins Bold" panose="00000800000000000000"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2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0.sv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2.svg"/><Relationship Id="rId10" Type="http://schemas.openxmlformats.org/officeDocument/2006/relationships/image" Target="../media/image19.png"/><Relationship Id="rId4" Type="http://schemas.openxmlformats.org/officeDocument/2006/relationships/image" Target="../media/image1.png"/><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2.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1.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0.svg"/><Relationship Id="rId5" Type="http://schemas.openxmlformats.org/officeDocument/2006/relationships/image" Target="../media/image26.svg"/><Relationship Id="rId15" Type="http://schemas.openxmlformats.org/officeDocument/2006/relationships/image" Target="../media/image34.svg"/><Relationship Id="rId10"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10.sv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1drv.ms/w/c/0d77e4f105f88a3b/IQBuJSzVrNyFTZA8z3ALJ7I8AfyqfPK9ESLQw68dut1-XU0?e=5YPKvE"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hyperlink" Target="https://1drv.ms/w/c/c8c8909e9d56f63b/IQALlcaaL1XaTrWo7oRUT6KBAdZJfm0uo1k9sgraPBjeTrE?e=Q8kpz3"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1drv.ms/w/c/0d77e4f105f88a3b/IQDaD9_1304MQ7Xpa1FvlGjJATZq1T-t3sWBVBmC2fOWpr4?e=MmeTBW" TargetMode="External"/><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1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10800000">
            <a:off x="9734883" y="4448632"/>
            <a:ext cx="7128491" cy="6558220"/>
          </a:xfrm>
          <a:custGeom>
            <a:avLst/>
            <a:gdLst/>
            <a:ahLst/>
            <a:cxnLst/>
            <a:rect l="l" t="t" r="r" b="b"/>
            <a:pathLst>
              <a:path w="7128491" h="6558220">
                <a:moveTo>
                  <a:pt x="0" y="0"/>
                </a:moveTo>
                <a:lnTo>
                  <a:pt x="7128491" y="0"/>
                </a:lnTo>
                <a:lnTo>
                  <a:pt x="7128491" y="6558220"/>
                </a:lnTo>
                <a:lnTo>
                  <a:pt x="0" y="6558220"/>
                </a:lnTo>
                <a:lnTo>
                  <a:pt x="0" y="0"/>
                </a:lnTo>
                <a:close/>
              </a:path>
            </a:pathLst>
          </a:custGeom>
          <a:blipFill>
            <a:blip r:embed="rId2">
              <a:extLst>
                <a:ext uri="{96DAC541-7B7A-43D3-8B79-37D633B846F1}">
                  <asvg:svgBlip xmlns:asvg="http://schemas.microsoft.com/office/drawing/2016/SVG/main" r:embed="rId3"/>
                </a:ext>
              </a:extLst>
            </a:blip>
            <a:stretch>
              <a:fillRect t="-139" b="-139"/>
            </a:stretch>
          </a:blipFill>
        </p:spPr>
      </p:sp>
      <p:sp>
        <p:nvSpPr>
          <p:cNvPr id="3" name="Freeform 3"/>
          <p:cNvSpPr/>
          <p:nvPr/>
        </p:nvSpPr>
        <p:spPr>
          <a:xfrm>
            <a:off x="13299129" y="1977171"/>
            <a:ext cx="3956218" cy="963882"/>
          </a:xfrm>
          <a:custGeom>
            <a:avLst/>
            <a:gdLst/>
            <a:ahLst/>
            <a:cxnLst/>
            <a:rect l="l" t="t" r="r" b="b"/>
            <a:pathLst>
              <a:path w="3956218" h="963882">
                <a:moveTo>
                  <a:pt x="0" y="0"/>
                </a:moveTo>
                <a:lnTo>
                  <a:pt x="3956218" y="0"/>
                </a:lnTo>
                <a:lnTo>
                  <a:pt x="3956218" y="963882"/>
                </a:lnTo>
                <a:lnTo>
                  <a:pt x="0" y="963882"/>
                </a:lnTo>
                <a:lnTo>
                  <a:pt x="0" y="0"/>
                </a:lnTo>
                <a:close/>
              </a:path>
            </a:pathLst>
          </a:custGeom>
          <a:blipFill>
            <a:blip r:embed="rId4">
              <a:extLst>
                <a:ext uri="{96DAC541-7B7A-43D3-8B79-37D633B846F1}">
                  <asvg:svgBlip xmlns:asvg="http://schemas.microsoft.com/office/drawing/2016/SVG/main" r:embed="rId5"/>
                </a:ext>
              </a:extLst>
            </a:blip>
            <a:stretch>
              <a:fillRect t="-319" b="-319"/>
            </a:stretch>
          </a:blipFill>
        </p:spPr>
      </p:sp>
      <p:sp>
        <p:nvSpPr>
          <p:cNvPr id="4" name="Freeform 4"/>
          <p:cNvSpPr/>
          <p:nvPr/>
        </p:nvSpPr>
        <p:spPr>
          <a:xfrm>
            <a:off x="8113900" y="8752618"/>
            <a:ext cx="1030100" cy="1011364"/>
          </a:xfrm>
          <a:custGeom>
            <a:avLst/>
            <a:gdLst/>
            <a:ahLst/>
            <a:cxnLst/>
            <a:rect l="l" t="t" r="r" b="b"/>
            <a:pathLst>
              <a:path w="1030100" h="1011364">
                <a:moveTo>
                  <a:pt x="0" y="0"/>
                </a:moveTo>
                <a:lnTo>
                  <a:pt x="1030100" y="0"/>
                </a:lnTo>
                <a:lnTo>
                  <a:pt x="1030100" y="1011364"/>
                </a:lnTo>
                <a:lnTo>
                  <a:pt x="0" y="1011364"/>
                </a:lnTo>
                <a:lnTo>
                  <a:pt x="0" y="0"/>
                </a:lnTo>
                <a:close/>
              </a:path>
            </a:pathLst>
          </a:custGeom>
          <a:blipFill>
            <a:blip r:embed="rId6">
              <a:extLst>
                <a:ext uri="{96DAC541-7B7A-43D3-8B79-37D633B846F1}">
                  <asvg:svgBlip xmlns:asvg="http://schemas.microsoft.com/office/drawing/2016/SVG/main" r:embed="rId7"/>
                </a:ext>
              </a:extLst>
            </a:blip>
            <a:stretch>
              <a:fillRect l="-8" r="-8"/>
            </a:stretch>
          </a:blipFill>
        </p:spPr>
      </p:sp>
      <p:sp>
        <p:nvSpPr>
          <p:cNvPr id="5" name="Freeform 5"/>
          <p:cNvSpPr/>
          <p:nvPr/>
        </p:nvSpPr>
        <p:spPr>
          <a:xfrm>
            <a:off x="15870984" y="6608359"/>
            <a:ext cx="1388316" cy="1638576"/>
          </a:xfrm>
          <a:custGeom>
            <a:avLst/>
            <a:gdLst/>
            <a:ahLst/>
            <a:cxnLst/>
            <a:rect l="l" t="t" r="r" b="b"/>
            <a:pathLst>
              <a:path w="1388316" h="1638576">
                <a:moveTo>
                  <a:pt x="0" y="0"/>
                </a:moveTo>
                <a:lnTo>
                  <a:pt x="1388316" y="0"/>
                </a:lnTo>
                <a:lnTo>
                  <a:pt x="1388316" y="1638577"/>
                </a:lnTo>
                <a:lnTo>
                  <a:pt x="0" y="1638577"/>
                </a:lnTo>
                <a:lnTo>
                  <a:pt x="0" y="0"/>
                </a:lnTo>
                <a:close/>
              </a:path>
            </a:pathLst>
          </a:custGeom>
          <a:blipFill>
            <a:blip r:embed="rId8">
              <a:extLst>
                <a:ext uri="{96DAC541-7B7A-43D3-8B79-37D633B846F1}">
                  <asvg:svgBlip xmlns:asvg="http://schemas.microsoft.com/office/drawing/2016/SVG/main" r:embed="rId9"/>
                </a:ext>
              </a:extLst>
            </a:blip>
            <a:stretch>
              <a:fillRect t="-198" b="-197"/>
            </a:stretch>
          </a:blipFill>
        </p:spPr>
      </p:sp>
      <p:sp>
        <p:nvSpPr>
          <p:cNvPr id="6" name="Freeform 6"/>
          <p:cNvSpPr/>
          <p:nvPr/>
        </p:nvSpPr>
        <p:spPr>
          <a:xfrm rot="5400000">
            <a:off x="5989330" y="-1327566"/>
            <a:ext cx="766458" cy="4901756"/>
          </a:xfrm>
          <a:custGeom>
            <a:avLst/>
            <a:gdLst/>
            <a:ahLst/>
            <a:cxnLst/>
            <a:rect l="l" t="t" r="r" b="b"/>
            <a:pathLst>
              <a:path w="766458" h="4901756">
                <a:moveTo>
                  <a:pt x="0" y="0"/>
                </a:moveTo>
                <a:lnTo>
                  <a:pt x="766457" y="0"/>
                </a:lnTo>
                <a:lnTo>
                  <a:pt x="766457" y="4901756"/>
                </a:lnTo>
                <a:lnTo>
                  <a:pt x="0" y="4901756"/>
                </a:lnTo>
                <a:lnTo>
                  <a:pt x="0" y="0"/>
                </a:lnTo>
                <a:close/>
              </a:path>
            </a:pathLst>
          </a:custGeom>
          <a:blipFill>
            <a:blip r:embed="rId10">
              <a:extLst>
                <a:ext uri="{96DAC541-7B7A-43D3-8B79-37D633B846F1}">
                  <asvg:svgBlip xmlns:asvg="http://schemas.microsoft.com/office/drawing/2016/SVG/main" r:embed="rId11"/>
                </a:ext>
              </a:extLst>
            </a:blip>
            <a:stretch>
              <a:fillRect l="-293" r="-293"/>
            </a:stretch>
          </a:blipFill>
        </p:spPr>
      </p:sp>
      <p:sp>
        <p:nvSpPr>
          <p:cNvPr id="7" name="Freeform 7"/>
          <p:cNvSpPr/>
          <p:nvPr/>
        </p:nvSpPr>
        <p:spPr>
          <a:xfrm rot="5400000">
            <a:off x="1680429" y="-1327566"/>
            <a:ext cx="766458" cy="4901756"/>
          </a:xfrm>
          <a:custGeom>
            <a:avLst/>
            <a:gdLst/>
            <a:ahLst/>
            <a:cxnLst/>
            <a:rect l="l" t="t" r="r" b="b"/>
            <a:pathLst>
              <a:path w="766458" h="4901756">
                <a:moveTo>
                  <a:pt x="0" y="0"/>
                </a:moveTo>
                <a:lnTo>
                  <a:pt x="766458" y="0"/>
                </a:lnTo>
                <a:lnTo>
                  <a:pt x="766458" y="4901756"/>
                </a:lnTo>
                <a:lnTo>
                  <a:pt x="0" y="4901756"/>
                </a:lnTo>
                <a:lnTo>
                  <a:pt x="0" y="0"/>
                </a:lnTo>
                <a:close/>
              </a:path>
            </a:pathLst>
          </a:custGeom>
          <a:blipFill>
            <a:blip r:embed="rId10">
              <a:extLst>
                <a:ext uri="{96DAC541-7B7A-43D3-8B79-37D633B846F1}">
                  <asvg:svgBlip xmlns:asvg="http://schemas.microsoft.com/office/drawing/2016/SVG/main" r:embed="rId11"/>
                </a:ext>
              </a:extLst>
            </a:blip>
            <a:stretch>
              <a:fillRect l="-293" r="-293"/>
            </a:stretch>
          </a:blipFill>
        </p:spPr>
      </p:sp>
      <p:sp>
        <p:nvSpPr>
          <p:cNvPr id="8" name="Freeform 8"/>
          <p:cNvSpPr/>
          <p:nvPr/>
        </p:nvSpPr>
        <p:spPr>
          <a:xfrm flipH="1">
            <a:off x="8519341" y="-2935786"/>
            <a:ext cx="4442327" cy="4442327"/>
          </a:xfrm>
          <a:custGeom>
            <a:avLst/>
            <a:gdLst/>
            <a:ahLst/>
            <a:cxnLst/>
            <a:rect l="l" t="t" r="r" b="b"/>
            <a:pathLst>
              <a:path w="4442327" h="4442327">
                <a:moveTo>
                  <a:pt x="4442327" y="0"/>
                </a:moveTo>
                <a:lnTo>
                  <a:pt x="0" y="0"/>
                </a:lnTo>
                <a:lnTo>
                  <a:pt x="0" y="4442327"/>
                </a:lnTo>
                <a:lnTo>
                  <a:pt x="4442327" y="4442327"/>
                </a:lnTo>
                <a:lnTo>
                  <a:pt x="4442327"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rot="-1693380">
            <a:off x="8903265" y="849468"/>
            <a:ext cx="805129" cy="1362532"/>
          </a:xfrm>
          <a:custGeom>
            <a:avLst/>
            <a:gdLst/>
            <a:ahLst/>
            <a:cxnLst/>
            <a:rect l="l" t="t" r="r" b="b"/>
            <a:pathLst>
              <a:path w="805129" h="1362532">
                <a:moveTo>
                  <a:pt x="0" y="0"/>
                </a:moveTo>
                <a:lnTo>
                  <a:pt x="805129" y="0"/>
                </a:lnTo>
                <a:lnTo>
                  <a:pt x="805129" y="1362532"/>
                </a:lnTo>
                <a:lnTo>
                  <a:pt x="0" y="1362532"/>
                </a:lnTo>
                <a:lnTo>
                  <a:pt x="0" y="0"/>
                </a:lnTo>
                <a:close/>
              </a:path>
            </a:pathLst>
          </a:custGeom>
          <a:blipFill>
            <a:blip r:embed="rId14">
              <a:extLst>
                <a:ext uri="{96DAC541-7B7A-43D3-8B79-37D633B846F1}">
                  <asvg:svgBlip xmlns:asvg="http://schemas.microsoft.com/office/drawing/2016/SVG/main" r:embed="rId15"/>
                </a:ext>
              </a:extLst>
            </a:blip>
            <a:stretch>
              <a:fillRect t="-53" b="-53"/>
            </a:stretch>
          </a:blipFill>
        </p:spPr>
      </p:sp>
      <p:sp>
        <p:nvSpPr>
          <p:cNvPr id="10" name="TextBox 10"/>
          <p:cNvSpPr txBox="1"/>
          <p:nvPr/>
        </p:nvSpPr>
        <p:spPr>
          <a:xfrm>
            <a:off x="1525562" y="3070365"/>
            <a:ext cx="10474833" cy="1463916"/>
          </a:xfrm>
          <a:prstGeom prst="rect">
            <a:avLst/>
          </a:prstGeom>
        </p:spPr>
        <p:txBody>
          <a:bodyPr lIns="0" tIns="0" rIns="0" bIns="0" rtlCol="0" anchor="t">
            <a:spAutoFit/>
          </a:bodyPr>
          <a:lstStyle/>
          <a:p>
            <a:pPr algn="ctr">
              <a:lnSpc>
                <a:spcPts val="5499"/>
              </a:lnSpc>
            </a:pPr>
            <a:r>
              <a:rPr lang="en-US" sz="5400" b="1">
                <a:solidFill>
                  <a:srgbClr val="1D1D1B"/>
                </a:solidFill>
                <a:latin typeface="Agrandir Bold"/>
                <a:ea typeface="Agrandir Bold"/>
                <a:cs typeface="Agrandir Bold"/>
                <a:sym typeface="Agrandir Bold"/>
              </a:rPr>
              <a:t>Integrated Smart Traffic System</a:t>
            </a:r>
          </a:p>
        </p:txBody>
      </p:sp>
      <p:sp>
        <p:nvSpPr>
          <p:cNvPr id="11" name="TextBox 11"/>
          <p:cNvSpPr txBox="1"/>
          <p:nvPr/>
        </p:nvSpPr>
        <p:spPr>
          <a:xfrm>
            <a:off x="1065943" y="6856733"/>
            <a:ext cx="5711466" cy="2401567"/>
          </a:xfrm>
          <a:prstGeom prst="rect">
            <a:avLst/>
          </a:prstGeom>
        </p:spPr>
        <p:txBody>
          <a:bodyPr lIns="0" tIns="0" rIns="0" bIns="0" rtlCol="0" anchor="t">
            <a:spAutoFit/>
          </a:bodyPr>
          <a:lstStyle/>
          <a:p>
            <a:pPr algn="l">
              <a:lnSpc>
                <a:spcPts val="3078"/>
              </a:lnSpc>
            </a:pPr>
            <a:r>
              <a:rPr lang="en-US" sz="2199" b="1">
                <a:solidFill>
                  <a:srgbClr val="1D1D1B"/>
                </a:solidFill>
                <a:latin typeface="Poppins Bold"/>
                <a:ea typeface="Poppins Bold"/>
                <a:cs typeface="Poppins Bold"/>
                <a:sym typeface="Poppins Bold"/>
              </a:rPr>
              <a:t>Prepared By:</a:t>
            </a:r>
          </a:p>
          <a:p>
            <a:pPr algn="l">
              <a:lnSpc>
                <a:spcPts val="3078"/>
              </a:lnSpc>
            </a:pPr>
            <a:r>
              <a:rPr lang="en-US" sz="2199">
                <a:solidFill>
                  <a:srgbClr val="1D1D1B"/>
                </a:solidFill>
                <a:latin typeface="Poppins"/>
                <a:ea typeface="Poppins"/>
                <a:cs typeface="Poppins"/>
                <a:sym typeface="Poppins"/>
              </a:rPr>
              <a:t>Khawla Al-Shaikh</a:t>
            </a:r>
          </a:p>
          <a:p>
            <a:pPr algn="l">
              <a:lnSpc>
                <a:spcPts val="3078"/>
              </a:lnSpc>
            </a:pPr>
            <a:r>
              <a:rPr lang="en-US" sz="2199">
                <a:solidFill>
                  <a:srgbClr val="1D1D1B"/>
                </a:solidFill>
                <a:latin typeface="Poppins"/>
                <a:ea typeface="Poppins"/>
                <a:cs typeface="Poppins"/>
                <a:sym typeface="Poppins"/>
              </a:rPr>
              <a:t>Judy Dukmak</a:t>
            </a:r>
          </a:p>
          <a:p>
            <a:pPr algn="l">
              <a:lnSpc>
                <a:spcPts val="3078"/>
              </a:lnSpc>
            </a:pPr>
            <a:r>
              <a:rPr lang="en-US" sz="2199" b="1">
                <a:solidFill>
                  <a:srgbClr val="1D1D1B"/>
                </a:solidFill>
                <a:latin typeface="Poppins Bold"/>
                <a:ea typeface="Poppins Bold"/>
                <a:cs typeface="Poppins Bold"/>
                <a:sym typeface="Poppins Bold"/>
              </a:rPr>
              <a:t>Supervised By:</a:t>
            </a:r>
          </a:p>
          <a:p>
            <a:pPr algn="l">
              <a:lnSpc>
                <a:spcPts val="3078"/>
              </a:lnSpc>
            </a:pPr>
            <a:r>
              <a:rPr lang="en-US" sz="2199">
                <a:solidFill>
                  <a:srgbClr val="1D1D1B"/>
                </a:solidFill>
                <a:latin typeface="Poppins"/>
                <a:ea typeface="Poppins"/>
                <a:cs typeface="Poppins"/>
                <a:sym typeface="Poppins"/>
              </a:rPr>
              <a:t>Dr.Riad Sonbol</a:t>
            </a:r>
          </a:p>
          <a:p>
            <a:pPr algn="l">
              <a:lnSpc>
                <a:spcPts val="3078"/>
              </a:lnSpc>
            </a:pPr>
            <a:r>
              <a:rPr lang="en-US" sz="2199">
                <a:solidFill>
                  <a:srgbClr val="1D1D1B"/>
                </a:solidFill>
                <a:latin typeface="Poppins"/>
                <a:ea typeface="Poppins"/>
                <a:cs typeface="Poppins"/>
                <a:sym typeface="Poppins"/>
              </a:rPr>
              <a:t>Eng.Aya Alaswad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5400000">
            <a:off x="11585057" y="665778"/>
            <a:ext cx="766458" cy="4901756"/>
          </a:xfrm>
          <a:custGeom>
            <a:avLst/>
            <a:gdLst/>
            <a:ahLst/>
            <a:cxnLst/>
            <a:rect l="l" t="t" r="r" b="b"/>
            <a:pathLst>
              <a:path w="766458" h="4901756">
                <a:moveTo>
                  <a:pt x="0" y="0"/>
                </a:moveTo>
                <a:lnTo>
                  <a:pt x="766458" y="0"/>
                </a:lnTo>
                <a:lnTo>
                  <a:pt x="766458" y="4901756"/>
                </a:lnTo>
                <a:lnTo>
                  <a:pt x="0" y="4901756"/>
                </a:lnTo>
                <a:lnTo>
                  <a:pt x="0" y="0"/>
                </a:lnTo>
                <a:close/>
              </a:path>
            </a:pathLst>
          </a:custGeom>
          <a:blipFill>
            <a:blip r:embed="rId2">
              <a:extLst>
                <a:ext uri="{96DAC541-7B7A-43D3-8B79-37D633B846F1}">
                  <asvg:svgBlip xmlns:asvg="http://schemas.microsoft.com/office/drawing/2016/SVG/main" r:embed="rId3"/>
                </a:ext>
              </a:extLst>
            </a:blip>
            <a:stretch>
              <a:fillRect l="-293" r="-293"/>
            </a:stretch>
          </a:blipFill>
        </p:spPr>
      </p:sp>
      <p:sp>
        <p:nvSpPr>
          <p:cNvPr id="3" name="Freeform 3"/>
          <p:cNvSpPr/>
          <p:nvPr/>
        </p:nvSpPr>
        <p:spPr>
          <a:xfrm rot="5400000">
            <a:off x="7147874" y="665778"/>
            <a:ext cx="766458" cy="4901756"/>
          </a:xfrm>
          <a:custGeom>
            <a:avLst/>
            <a:gdLst/>
            <a:ahLst/>
            <a:cxnLst/>
            <a:rect l="l" t="t" r="r" b="b"/>
            <a:pathLst>
              <a:path w="766458" h="4901756">
                <a:moveTo>
                  <a:pt x="0" y="0"/>
                </a:moveTo>
                <a:lnTo>
                  <a:pt x="766458" y="0"/>
                </a:lnTo>
                <a:lnTo>
                  <a:pt x="766458" y="4901756"/>
                </a:lnTo>
                <a:lnTo>
                  <a:pt x="0" y="4901756"/>
                </a:lnTo>
                <a:lnTo>
                  <a:pt x="0" y="0"/>
                </a:lnTo>
                <a:close/>
              </a:path>
            </a:pathLst>
          </a:custGeom>
          <a:blipFill>
            <a:blip r:embed="rId2">
              <a:extLst>
                <a:ext uri="{96DAC541-7B7A-43D3-8B79-37D633B846F1}">
                  <asvg:svgBlip xmlns:asvg="http://schemas.microsoft.com/office/drawing/2016/SVG/main" r:embed="rId3"/>
                </a:ext>
              </a:extLst>
            </a:blip>
            <a:stretch>
              <a:fillRect l="-293" r="-293"/>
            </a:stretch>
          </a:blipFill>
        </p:spPr>
      </p:sp>
      <p:sp>
        <p:nvSpPr>
          <p:cNvPr id="4" name="Freeform 4"/>
          <p:cNvSpPr/>
          <p:nvPr/>
        </p:nvSpPr>
        <p:spPr>
          <a:xfrm rot="-5400000">
            <a:off x="12803915" y="2912335"/>
            <a:ext cx="4472607" cy="4114800"/>
          </a:xfrm>
          <a:custGeom>
            <a:avLst/>
            <a:gdLst/>
            <a:ahLst/>
            <a:cxnLst/>
            <a:rect l="l" t="t" r="r" b="b"/>
            <a:pathLst>
              <a:path w="4472607" h="4114800">
                <a:moveTo>
                  <a:pt x="0" y="0"/>
                </a:moveTo>
                <a:lnTo>
                  <a:pt x="4472606" y="0"/>
                </a:lnTo>
                <a:lnTo>
                  <a:pt x="447260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184" b="-185"/>
            </a:stretch>
          </a:blipFill>
        </p:spPr>
      </p:sp>
      <p:sp>
        <p:nvSpPr>
          <p:cNvPr id="5" name="Freeform 5"/>
          <p:cNvSpPr/>
          <p:nvPr/>
        </p:nvSpPr>
        <p:spPr>
          <a:xfrm rot="5400000">
            <a:off x="11211649" y="4371927"/>
            <a:ext cx="766458" cy="4901756"/>
          </a:xfrm>
          <a:custGeom>
            <a:avLst/>
            <a:gdLst/>
            <a:ahLst/>
            <a:cxnLst/>
            <a:rect l="l" t="t" r="r" b="b"/>
            <a:pathLst>
              <a:path w="766458" h="4901756">
                <a:moveTo>
                  <a:pt x="0" y="0"/>
                </a:moveTo>
                <a:lnTo>
                  <a:pt x="766458" y="0"/>
                </a:lnTo>
                <a:lnTo>
                  <a:pt x="766458" y="4901756"/>
                </a:lnTo>
                <a:lnTo>
                  <a:pt x="0" y="4901756"/>
                </a:lnTo>
                <a:lnTo>
                  <a:pt x="0" y="0"/>
                </a:lnTo>
                <a:close/>
              </a:path>
            </a:pathLst>
          </a:custGeom>
          <a:blipFill>
            <a:blip r:embed="rId2">
              <a:extLst>
                <a:ext uri="{96DAC541-7B7A-43D3-8B79-37D633B846F1}">
                  <asvg:svgBlip xmlns:asvg="http://schemas.microsoft.com/office/drawing/2016/SVG/main" r:embed="rId3"/>
                </a:ext>
              </a:extLst>
            </a:blip>
            <a:stretch>
              <a:fillRect l="-293" r="-293"/>
            </a:stretch>
          </a:blipFill>
        </p:spPr>
      </p:sp>
      <p:sp>
        <p:nvSpPr>
          <p:cNvPr id="6" name="Freeform 6"/>
          <p:cNvSpPr/>
          <p:nvPr/>
        </p:nvSpPr>
        <p:spPr>
          <a:xfrm rot="5400000">
            <a:off x="7147874" y="4371927"/>
            <a:ext cx="766458" cy="4901756"/>
          </a:xfrm>
          <a:custGeom>
            <a:avLst/>
            <a:gdLst/>
            <a:ahLst/>
            <a:cxnLst/>
            <a:rect l="l" t="t" r="r" b="b"/>
            <a:pathLst>
              <a:path w="766458" h="4901756">
                <a:moveTo>
                  <a:pt x="0" y="0"/>
                </a:moveTo>
                <a:lnTo>
                  <a:pt x="766458" y="0"/>
                </a:lnTo>
                <a:lnTo>
                  <a:pt x="766458" y="4901756"/>
                </a:lnTo>
                <a:lnTo>
                  <a:pt x="0" y="4901756"/>
                </a:lnTo>
                <a:lnTo>
                  <a:pt x="0" y="0"/>
                </a:lnTo>
                <a:close/>
              </a:path>
            </a:pathLst>
          </a:custGeom>
          <a:blipFill>
            <a:blip r:embed="rId2">
              <a:extLst>
                <a:ext uri="{96DAC541-7B7A-43D3-8B79-37D633B846F1}">
                  <asvg:svgBlip xmlns:asvg="http://schemas.microsoft.com/office/drawing/2016/SVG/main" r:embed="rId3"/>
                </a:ext>
              </a:extLst>
            </a:blip>
            <a:stretch>
              <a:fillRect l="-293" r="-293"/>
            </a:stretch>
          </a:blipFill>
        </p:spPr>
      </p:sp>
      <p:sp>
        <p:nvSpPr>
          <p:cNvPr id="7" name="Freeform 7"/>
          <p:cNvSpPr/>
          <p:nvPr/>
        </p:nvSpPr>
        <p:spPr>
          <a:xfrm>
            <a:off x="7970568" y="6152340"/>
            <a:ext cx="1340939" cy="1340939"/>
          </a:xfrm>
          <a:custGeom>
            <a:avLst/>
            <a:gdLst/>
            <a:ahLst/>
            <a:cxnLst/>
            <a:rect l="l" t="t" r="r" b="b"/>
            <a:pathLst>
              <a:path w="1340939" h="1340939">
                <a:moveTo>
                  <a:pt x="0" y="0"/>
                </a:moveTo>
                <a:lnTo>
                  <a:pt x="1340939" y="0"/>
                </a:lnTo>
                <a:lnTo>
                  <a:pt x="1340939" y="1340939"/>
                </a:lnTo>
                <a:lnTo>
                  <a:pt x="0" y="13409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3375291" y="6152340"/>
            <a:ext cx="1340939" cy="1340939"/>
          </a:xfrm>
          <a:custGeom>
            <a:avLst/>
            <a:gdLst/>
            <a:ahLst/>
            <a:cxnLst/>
            <a:rect l="l" t="t" r="r" b="b"/>
            <a:pathLst>
              <a:path w="1340939" h="1340939">
                <a:moveTo>
                  <a:pt x="0" y="0"/>
                </a:moveTo>
                <a:lnTo>
                  <a:pt x="1340939" y="0"/>
                </a:lnTo>
                <a:lnTo>
                  <a:pt x="1340939" y="1340939"/>
                </a:lnTo>
                <a:lnTo>
                  <a:pt x="0" y="13409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9311507" y="2354761"/>
            <a:ext cx="1340939" cy="1340939"/>
          </a:xfrm>
          <a:custGeom>
            <a:avLst/>
            <a:gdLst/>
            <a:ahLst/>
            <a:cxnLst/>
            <a:rect l="l" t="t" r="r" b="b"/>
            <a:pathLst>
              <a:path w="1340939" h="1340939">
                <a:moveTo>
                  <a:pt x="0" y="0"/>
                </a:moveTo>
                <a:lnTo>
                  <a:pt x="1340939" y="0"/>
                </a:lnTo>
                <a:lnTo>
                  <a:pt x="1340939" y="1340939"/>
                </a:lnTo>
                <a:lnTo>
                  <a:pt x="0" y="134093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0" name="Freeform 10"/>
          <p:cNvSpPr/>
          <p:nvPr/>
        </p:nvSpPr>
        <p:spPr>
          <a:xfrm>
            <a:off x="15380608" y="2857433"/>
            <a:ext cx="1340939" cy="1340939"/>
          </a:xfrm>
          <a:custGeom>
            <a:avLst/>
            <a:gdLst/>
            <a:ahLst/>
            <a:cxnLst/>
            <a:rect l="l" t="t" r="r" b="b"/>
            <a:pathLst>
              <a:path w="1340939" h="1340939">
                <a:moveTo>
                  <a:pt x="0" y="0"/>
                </a:moveTo>
                <a:lnTo>
                  <a:pt x="1340939" y="0"/>
                </a:lnTo>
                <a:lnTo>
                  <a:pt x="1340939" y="1340939"/>
                </a:lnTo>
                <a:lnTo>
                  <a:pt x="0" y="13409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42990" y="1015117"/>
            <a:ext cx="2768317" cy="2249881"/>
          </a:xfrm>
          <a:custGeom>
            <a:avLst/>
            <a:gdLst/>
            <a:ahLst/>
            <a:cxnLst/>
            <a:rect l="l" t="t" r="r" b="b"/>
            <a:pathLst>
              <a:path w="2768317" h="2249881">
                <a:moveTo>
                  <a:pt x="0" y="0"/>
                </a:moveTo>
                <a:lnTo>
                  <a:pt x="2768318" y="0"/>
                </a:lnTo>
                <a:lnTo>
                  <a:pt x="2768318" y="2249882"/>
                </a:lnTo>
                <a:lnTo>
                  <a:pt x="0" y="2249882"/>
                </a:lnTo>
                <a:lnTo>
                  <a:pt x="0" y="0"/>
                </a:lnTo>
                <a:close/>
              </a:path>
            </a:pathLst>
          </a:custGeom>
          <a:blipFill>
            <a:blip r:embed="rId10">
              <a:extLst>
                <a:ext uri="{96DAC541-7B7A-43D3-8B79-37D633B846F1}">
                  <asvg:svgBlip xmlns:asvg="http://schemas.microsoft.com/office/drawing/2016/SVG/main" r:embed="rId11"/>
                </a:ext>
              </a:extLst>
            </a:blip>
            <a:stretch>
              <a:fillRect t="-104" b="-104"/>
            </a:stretch>
          </a:blipFill>
        </p:spPr>
      </p:sp>
      <p:sp>
        <p:nvSpPr>
          <p:cNvPr id="12" name="TextBox 12"/>
          <p:cNvSpPr txBox="1"/>
          <p:nvPr/>
        </p:nvSpPr>
        <p:spPr>
          <a:xfrm>
            <a:off x="8110890" y="3696405"/>
            <a:ext cx="3742192" cy="768353"/>
          </a:xfrm>
          <a:prstGeom prst="rect">
            <a:avLst/>
          </a:prstGeom>
        </p:spPr>
        <p:txBody>
          <a:bodyPr lIns="0" tIns="0" rIns="0" bIns="0" rtlCol="0" anchor="t">
            <a:spAutoFit/>
          </a:bodyPr>
          <a:lstStyle/>
          <a:p>
            <a:pPr algn="ctr">
              <a:lnSpc>
                <a:spcPts val="2799"/>
              </a:lnSpc>
            </a:pPr>
            <a:r>
              <a:rPr lang="en-US" sz="1999">
                <a:solidFill>
                  <a:srgbClr val="1D1D1B"/>
                </a:solidFill>
                <a:latin typeface="Poppins"/>
                <a:ea typeface="Poppins"/>
                <a:cs typeface="Poppins"/>
                <a:sym typeface="Poppins"/>
              </a:rPr>
              <a:t>Introduction,Objective &amp; project signification</a:t>
            </a:r>
          </a:p>
        </p:txBody>
      </p:sp>
      <p:sp>
        <p:nvSpPr>
          <p:cNvPr id="13" name="TextBox 13"/>
          <p:cNvSpPr txBox="1"/>
          <p:nvPr/>
        </p:nvSpPr>
        <p:spPr>
          <a:xfrm>
            <a:off x="1028700" y="3118237"/>
            <a:ext cx="3821401" cy="1080135"/>
          </a:xfrm>
          <a:prstGeom prst="rect">
            <a:avLst/>
          </a:prstGeom>
        </p:spPr>
        <p:txBody>
          <a:bodyPr lIns="0" tIns="0" rIns="0" bIns="0" rtlCol="0" anchor="t">
            <a:spAutoFit/>
          </a:bodyPr>
          <a:lstStyle/>
          <a:p>
            <a:pPr algn="ctr">
              <a:lnSpc>
                <a:spcPts val="7138"/>
              </a:lnSpc>
            </a:pPr>
            <a:r>
              <a:rPr lang="en-US" sz="5098" b="1">
                <a:solidFill>
                  <a:srgbClr val="1D1D1B"/>
                </a:solidFill>
                <a:latin typeface="Poppins Bold"/>
                <a:ea typeface="Poppins Bold"/>
                <a:cs typeface="Poppins Bold"/>
                <a:sym typeface="Poppins Bold"/>
              </a:rPr>
              <a:t>Agenda</a:t>
            </a:r>
          </a:p>
        </p:txBody>
      </p:sp>
      <p:sp>
        <p:nvSpPr>
          <p:cNvPr id="14" name="TextBox 14"/>
          <p:cNvSpPr txBox="1"/>
          <p:nvPr/>
        </p:nvSpPr>
        <p:spPr>
          <a:xfrm>
            <a:off x="11705758" y="4226576"/>
            <a:ext cx="5015789" cy="743160"/>
          </a:xfrm>
          <a:prstGeom prst="rect">
            <a:avLst/>
          </a:prstGeom>
        </p:spPr>
        <p:txBody>
          <a:bodyPr lIns="0" tIns="0" rIns="0" bIns="0" rtlCol="0" anchor="t">
            <a:spAutoFit/>
          </a:bodyPr>
          <a:lstStyle/>
          <a:p>
            <a:pPr algn="ctr">
              <a:lnSpc>
                <a:spcPts val="2800"/>
              </a:lnSpc>
            </a:pPr>
            <a:r>
              <a:rPr lang="en-US" sz="2000">
                <a:solidFill>
                  <a:srgbClr val="1D1D1B"/>
                </a:solidFill>
                <a:latin typeface="Poppins"/>
                <a:ea typeface="Poppins"/>
                <a:cs typeface="Poppins"/>
                <a:sym typeface="Poppins"/>
              </a:rPr>
              <a:t>Research Paper Comparison</a:t>
            </a:r>
          </a:p>
          <a:p>
            <a:pPr algn="ctr">
              <a:lnSpc>
                <a:spcPts val="2427"/>
              </a:lnSpc>
            </a:pPr>
            <a:endParaRPr lang="en-US" sz="2000">
              <a:solidFill>
                <a:srgbClr val="1D1D1B"/>
              </a:solidFill>
              <a:latin typeface="Poppins"/>
              <a:ea typeface="Poppins"/>
              <a:cs typeface="Poppins"/>
              <a:sym typeface="Poppins"/>
            </a:endParaRPr>
          </a:p>
        </p:txBody>
      </p:sp>
      <p:sp>
        <p:nvSpPr>
          <p:cNvPr id="15" name="TextBox 15"/>
          <p:cNvSpPr txBox="1"/>
          <p:nvPr/>
        </p:nvSpPr>
        <p:spPr>
          <a:xfrm>
            <a:off x="12308891" y="7543295"/>
            <a:ext cx="3742192" cy="768353"/>
          </a:xfrm>
          <a:prstGeom prst="rect">
            <a:avLst/>
          </a:prstGeom>
        </p:spPr>
        <p:txBody>
          <a:bodyPr lIns="0" tIns="0" rIns="0" bIns="0" rtlCol="0" anchor="t">
            <a:spAutoFit/>
          </a:bodyPr>
          <a:lstStyle/>
          <a:p>
            <a:pPr algn="ctr">
              <a:lnSpc>
                <a:spcPts val="2799"/>
              </a:lnSpc>
            </a:pPr>
            <a:r>
              <a:rPr lang="en-US" sz="1999">
                <a:solidFill>
                  <a:srgbClr val="1D1D1B"/>
                </a:solidFill>
                <a:latin typeface="Poppins"/>
                <a:ea typeface="Poppins"/>
                <a:cs typeface="Poppins"/>
                <a:sym typeface="Poppins"/>
              </a:rPr>
              <a:t>Datasets Comparison &amp; Overview</a:t>
            </a:r>
          </a:p>
        </p:txBody>
      </p:sp>
      <p:sp>
        <p:nvSpPr>
          <p:cNvPr id="16" name="Freeform 16"/>
          <p:cNvSpPr/>
          <p:nvPr/>
        </p:nvSpPr>
        <p:spPr>
          <a:xfrm rot="5400000">
            <a:off x="3210639" y="4371927"/>
            <a:ext cx="766458" cy="4901756"/>
          </a:xfrm>
          <a:custGeom>
            <a:avLst/>
            <a:gdLst/>
            <a:ahLst/>
            <a:cxnLst/>
            <a:rect l="l" t="t" r="r" b="b"/>
            <a:pathLst>
              <a:path w="766458" h="4901756">
                <a:moveTo>
                  <a:pt x="0" y="0"/>
                </a:moveTo>
                <a:lnTo>
                  <a:pt x="766458" y="0"/>
                </a:lnTo>
                <a:lnTo>
                  <a:pt x="766458" y="4901756"/>
                </a:lnTo>
                <a:lnTo>
                  <a:pt x="0" y="4901756"/>
                </a:lnTo>
                <a:lnTo>
                  <a:pt x="0" y="0"/>
                </a:lnTo>
                <a:close/>
              </a:path>
            </a:pathLst>
          </a:custGeom>
          <a:blipFill>
            <a:blip r:embed="rId2">
              <a:extLst>
                <a:ext uri="{96DAC541-7B7A-43D3-8B79-37D633B846F1}">
                  <asvg:svgBlip xmlns:asvg="http://schemas.microsoft.com/office/drawing/2016/SVG/main" r:embed="rId3"/>
                </a:ext>
              </a:extLst>
            </a:blip>
            <a:stretch>
              <a:fillRect l="-293" r="-293"/>
            </a:stretch>
          </a:blipFill>
        </p:spPr>
      </p:sp>
      <p:sp>
        <p:nvSpPr>
          <p:cNvPr id="17" name="Freeform 17"/>
          <p:cNvSpPr/>
          <p:nvPr/>
        </p:nvSpPr>
        <p:spPr>
          <a:xfrm>
            <a:off x="3593868" y="6152340"/>
            <a:ext cx="1340939" cy="1340939"/>
          </a:xfrm>
          <a:custGeom>
            <a:avLst/>
            <a:gdLst/>
            <a:ahLst/>
            <a:cxnLst/>
            <a:rect l="l" t="t" r="r" b="b"/>
            <a:pathLst>
              <a:path w="1340939" h="1340939">
                <a:moveTo>
                  <a:pt x="0" y="0"/>
                </a:moveTo>
                <a:lnTo>
                  <a:pt x="1340939" y="0"/>
                </a:lnTo>
                <a:lnTo>
                  <a:pt x="1340939" y="1340939"/>
                </a:lnTo>
                <a:lnTo>
                  <a:pt x="0" y="13409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TextBox 18"/>
          <p:cNvSpPr txBox="1"/>
          <p:nvPr/>
        </p:nvSpPr>
        <p:spPr>
          <a:xfrm>
            <a:off x="6769941" y="7693304"/>
            <a:ext cx="3742192" cy="415928"/>
          </a:xfrm>
          <a:prstGeom prst="rect">
            <a:avLst/>
          </a:prstGeom>
        </p:spPr>
        <p:txBody>
          <a:bodyPr lIns="0" tIns="0" rIns="0" bIns="0" rtlCol="0" anchor="t">
            <a:spAutoFit/>
          </a:bodyPr>
          <a:lstStyle/>
          <a:p>
            <a:pPr algn="ctr">
              <a:lnSpc>
                <a:spcPts val="2799"/>
              </a:lnSpc>
            </a:pPr>
            <a:r>
              <a:rPr lang="en-US" sz="1999">
                <a:solidFill>
                  <a:srgbClr val="1D1D1B"/>
                </a:solidFill>
                <a:latin typeface="Poppins"/>
                <a:ea typeface="Poppins"/>
                <a:cs typeface="Poppins"/>
                <a:sym typeface="Poppins"/>
              </a:rPr>
              <a:t>Project Pipeline</a:t>
            </a:r>
          </a:p>
        </p:txBody>
      </p:sp>
      <p:sp>
        <p:nvSpPr>
          <p:cNvPr id="19" name="TextBox 19"/>
          <p:cNvSpPr txBox="1"/>
          <p:nvPr/>
        </p:nvSpPr>
        <p:spPr>
          <a:xfrm>
            <a:off x="2527144" y="7719508"/>
            <a:ext cx="3742192" cy="415928"/>
          </a:xfrm>
          <a:prstGeom prst="rect">
            <a:avLst/>
          </a:prstGeom>
        </p:spPr>
        <p:txBody>
          <a:bodyPr lIns="0" tIns="0" rIns="0" bIns="0" rtlCol="0" anchor="t">
            <a:spAutoFit/>
          </a:bodyPr>
          <a:lstStyle/>
          <a:p>
            <a:pPr algn="ctr">
              <a:lnSpc>
                <a:spcPts val="2799"/>
              </a:lnSpc>
            </a:pPr>
            <a:r>
              <a:rPr lang="en-US" sz="1999">
                <a:solidFill>
                  <a:srgbClr val="1D1D1B"/>
                </a:solidFill>
                <a:latin typeface="Poppins"/>
                <a:ea typeface="Poppins"/>
                <a:cs typeface="Poppins"/>
                <a:sym typeface="Poppins"/>
              </a:rPr>
              <a:t>Arguments</a:t>
            </a:r>
          </a:p>
        </p:txBody>
      </p:sp>
      <p:sp>
        <p:nvSpPr>
          <p:cNvPr id="20" name="TextBox 20"/>
          <p:cNvSpPr txBox="1"/>
          <p:nvPr/>
        </p:nvSpPr>
        <p:spPr>
          <a:xfrm>
            <a:off x="15456637" y="3011653"/>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2</a:t>
            </a:r>
          </a:p>
        </p:txBody>
      </p:sp>
      <p:sp>
        <p:nvSpPr>
          <p:cNvPr id="21" name="TextBox 21"/>
          <p:cNvSpPr txBox="1"/>
          <p:nvPr/>
        </p:nvSpPr>
        <p:spPr>
          <a:xfrm>
            <a:off x="9387545" y="2619775"/>
            <a:ext cx="1188882" cy="880110"/>
          </a:xfrm>
          <a:prstGeom prst="rect">
            <a:avLst/>
          </a:prstGeom>
        </p:spPr>
        <p:txBody>
          <a:bodyPr lIns="0" tIns="0" rIns="0" bIns="0" rtlCol="0" anchor="t">
            <a:spAutoFit/>
          </a:bodyPr>
          <a:lstStyle/>
          <a:p>
            <a:pPr algn="ctr">
              <a:lnSpc>
                <a:spcPts val="5280"/>
              </a:lnSpc>
            </a:pPr>
            <a:r>
              <a:rPr lang="en-US" sz="4800" b="1" dirty="0">
                <a:solidFill>
                  <a:srgbClr val="FCF5F5"/>
                </a:solidFill>
                <a:latin typeface="Agrandir Bold"/>
                <a:ea typeface="Agrandir Bold"/>
                <a:cs typeface="Agrandir Bold"/>
                <a:sym typeface="Agrandir Bold"/>
              </a:rPr>
              <a:t>1</a:t>
            </a:r>
          </a:p>
        </p:txBody>
      </p:sp>
      <p:sp>
        <p:nvSpPr>
          <p:cNvPr id="22" name="TextBox 22"/>
          <p:cNvSpPr txBox="1"/>
          <p:nvPr/>
        </p:nvSpPr>
        <p:spPr>
          <a:xfrm>
            <a:off x="13451319" y="6325924"/>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3</a:t>
            </a:r>
          </a:p>
        </p:txBody>
      </p:sp>
      <p:sp>
        <p:nvSpPr>
          <p:cNvPr id="23" name="TextBox 23"/>
          <p:cNvSpPr txBox="1"/>
          <p:nvPr/>
        </p:nvSpPr>
        <p:spPr>
          <a:xfrm>
            <a:off x="8046596" y="6325924"/>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4</a:t>
            </a:r>
          </a:p>
        </p:txBody>
      </p:sp>
      <p:sp>
        <p:nvSpPr>
          <p:cNvPr id="24" name="TextBox 24"/>
          <p:cNvSpPr txBox="1"/>
          <p:nvPr/>
        </p:nvSpPr>
        <p:spPr>
          <a:xfrm>
            <a:off x="3661210" y="6325924"/>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028700" y="1236050"/>
            <a:ext cx="16230600" cy="3067355"/>
          </a:xfrm>
          <a:custGeom>
            <a:avLst/>
            <a:gdLst/>
            <a:ahLst/>
            <a:cxnLst/>
            <a:rect l="l" t="t" r="r" b="b"/>
            <a:pathLst>
              <a:path w="16230600" h="3067355">
                <a:moveTo>
                  <a:pt x="0" y="0"/>
                </a:moveTo>
                <a:lnTo>
                  <a:pt x="16230600" y="0"/>
                </a:lnTo>
                <a:lnTo>
                  <a:pt x="16230600" y="3067355"/>
                </a:lnTo>
                <a:lnTo>
                  <a:pt x="0" y="3067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5790352"/>
            <a:ext cx="7451741" cy="3467948"/>
          </a:xfrm>
          <a:custGeom>
            <a:avLst/>
            <a:gdLst/>
            <a:ahLst/>
            <a:cxnLst/>
            <a:rect l="l" t="t" r="r" b="b"/>
            <a:pathLst>
              <a:path w="7451741" h="3467948">
                <a:moveTo>
                  <a:pt x="0" y="0"/>
                </a:moveTo>
                <a:lnTo>
                  <a:pt x="7451741" y="0"/>
                </a:lnTo>
                <a:lnTo>
                  <a:pt x="7451741" y="3467948"/>
                </a:lnTo>
                <a:lnTo>
                  <a:pt x="0" y="34679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741513" y="5769950"/>
            <a:ext cx="7517787" cy="3488350"/>
          </a:xfrm>
          <a:custGeom>
            <a:avLst/>
            <a:gdLst/>
            <a:ahLst/>
            <a:cxnLst/>
            <a:rect l="l" t="t" r="r" b="b"/>
            <a:pathLst>
              <a:path w="7517787" h="3488350">
                <a:moveTo>
                  <a:pt x="0" y="0"/>
                </a:moveTo>
                <a:lnTo>
                  <a:pt x="7517787" y="0"/>
                </a:lnTo>
                <a:lnTo>
                  <a:pt x="7517787" y="3488350"/>
                </a:lnTo>
                <a:lnTo>
                  <a:pt x="0" y="34883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5400000">
            <a:off x="2991745" y="2816619"/>
            <a:ext cx="727681" cy="4653763"/>
          </a:xfrm>
          <a:custGeom>
            <a:avLst/>
            <a:gdLst/>
            <a:ahLst/>
            <a:cxnLst/>
            <a:rect l="l" t="t" r="r" b="b"/>
            <a:pathLst>
              <a:path w="727681" h="4653763">
                <a:moveTo>
                  <a:pt x="0" y="0"/>
                </a:moveTo>
                <a:lnTo>
                  <a:pt x="727682" y="0"/>
                </a:lnTo>
                <a:lnTo>
                  <a:pt x="727682" y="4653762"/>
                </a:lnTo>
                <a:lnTo>
                  <a:pt x="0" y="4653762"/>
                </a:lnTo>
                <a:lnTo>
                  <a:pt x="0" y="0"/>
                </a:lnTo>
                <a:close/>
              </a:path>
            </a:pathLst>
          </a:custGeom>
          <a:blipFill>
            <a:blip r:embed="rId8">
              <a:extLst>
                <a:ext uri="{96DAC541-7B7A-43D3-8B79-37D633B846F1}">
                  <asvg:svgBlip xmlns:asvg="http://schemas.microsoft.com/office/drawing/2016/SVG/main" r:embed="rId9"/>
                </a:ext>
              </a:extLst>
            </a:blip>
            <a:stretch>
              <a:fillRect l="-352" r="-352"/>
            </a:stretch>
          </a:blipFill>
        </p:spPr>
      </p:sp>
      <p:sp>
        <p:nvSpPr>
          <p:cNvPr id="6" name="Freeform 6"/>
          <p:cNvSpPr/>
          <p:nvPr/>
        </p:nvSpPr>
        <p:spPr>
          <a:xfrm rot="5400000">
            <a:off x="4685919" y="2816619"/>
            <a:ext cx="727681" cy="4653763"/>
          </a:xfrm>
          <a:custGeom>
            <a:avLst/>
            <a:gdLst/>
            <a:ahLst/>
            <a:cxnLst/>
            <a:rect l="l" t="t" r="r" b="b"/>
            <a:pathLst>
              <a:path w="727681" h="4653763">
                <a:moveTo>
                  <a:pt x="0" y="0"/>
                </a:moveTo>
                <a:lnTo>
                  <a:pt x="727681" y="0"/>
                </a:lnTo>
                <a:lnTo>
                  <a:pt x="727681" y="4653762"/>
                </a:lnTo>
                <a:lnTo>
                  <a:pt x="0" y="4653762"/>
                </a:lnTo>
                <a:lnTo>
                  <a:pt x="0" y="0"/>
                </a:lnTo>
                <a:close/>
              </a:path>
            </a:pathLst>
          </a:custGeom>
          <a:blipFill>
            <a:blip r:embed="rId8">
              <a:extLst>
                <a:ext uri="{96DAC541-7B7A-43D3-8B79-37D633B846F1}">
                  <asvg:svgBlip xmlns:asvg="http://schemas.microsoft.com/office/drawing/2016/SVG/main" r:embed="rId9"/>
                </a:ext>
              </a:extLst>
            </a:blip>
            <a:stretch>
              <a:fillRect l="-352" r="-352"/>
            </a:stretch>
          </a:blipFill>
        </p:spPr>
      </p:sp>
      <p:sp>
        <p:nvSpPr>
          <p:cNvPr id="7" name="Freeform 7"/>
          <p:cNvSpPr/>
          <p:nvPr/>
        </p:nvSpPr>
        <p:spPr>
          <a:xfrm rot="5400000">
            <a:off x="14567402" y="2816619"/>
            <a:ext cx="727681" cy="4653763"/>
          </a:xfrm>
          <a:custGeom>
            <a:avLst/>
            <a:gdLst/>
            <a:ahLst/>
            <a:cxnLst/>
            <a:rect l="l" t="t" r="r" b="b"/>
            <a:pathLst>
              <a:path w="727681" h="4653763">
                <a:moveTo>
                  <a:pt x="0" y="0"/>
                </a:moveTo>
                <a:lnTo>
                  <a:pt x="727681" y="0"/>
                </a:lnTo>
                <a:lnTo>
                  <a:pt x="727681" y="4653762"/>
                </a:lnTo>
                <a:lnTo>
                  <a:pt x="0" y="4653762"/>
                </a:lnTo>
                <a:lnTo>
                  <a:pt x="0" y="0"/>
                </a:lnTo>
                <a:close/>
              </a:path>
            </a:pathLst>
          </a:custGeom>
          <a:blipFill>
            <a:blip r:embed="rId8">
              <a:extLst>
                <a:ext uri="{96DAC541-7B7A-43D3-8B79-37D633B846F1}">
                  <asvg:svgBlip xmlns:asvg="http://schemas.microsoft.com/office/drawing/2016/SVG/main" r:embed="rId9"/>
                </a:ext>
              </a:extLst>
            </a:blip>
            <a:stretch>
              <a:fillRect l="-352" r="-352"/>
            </a:stretch>
          </a:blipFill>
        </p:spPr>
      </p:sp>
      <p:sp>
        <p:nvSpPr>
          <p:cNvPr id="8" name="Freeform 8"/>
          <p:cNvSpPr/>
          <p:nvPr/>
        </p:nvSpPr>
        <p:spPr>
          <a:xfrm rot="5400000">
            <a:off x="12871056" y="2816619"/>
            <a:ext cx="727681" cy="4653763"/>
          </a:xfrm>
          <a:custGeom>
            <a:avLst/>
            <a:gdLst/>
            <a:ahLst/>
            <a:cxnLst/>
            <a:rect l="l" t="t" r="r" b="b"/>
            <a:pathLst>
              <a:path w="727681" h="4653763">
                <a:moveTo>
                  <a:pt x="0" y="0"/>
                </a:moveTo>
                <a:lnTo>
                  <a:pt x="727682" y="0"/>
                </a:lnTo>
                <a:lnTo>
                  <a:pt x="727682" y="4653762"/>
                </a:lnTo>
                <a:lnTo>
                  <a:pt x="0" y="4653762"/>
                </a:lnTo>
                <a:lnTo>
                  <a:pt x="0" y="0"/>
                </a:lnTo>
                <a:close/>
              </a:path>
            </a:pathLst>
          </a:custGeom>
          <a:blipFill>
            <a:blip r:embed="rId8">
              <a:extLst>
                <a:ext uri="{96DAC541-7B7A-43D3-8B79-37D633B846F1}">
                  <asvg:svgBlip xmlns:asvg="http://schemas.microsoft.com/office/drawing/2016/SVG/main" r:embed="rId9"/>
                </a:ext>
              </a:extLst>
            </a:blip>
            <a:stretch>
              <a:fillRect l="-352" r="-352"/>
            </a:stretch>
          </a:blipFill>
        </p:spPr>
      </p:sp>
      <p:sp>
        <p:nvSpPr>
          <p:cNvPr id="9" name="Freeform 9"/>
          <p:cNvSpPr/>
          <p:nvPr/>
        </p:nvSpPr>
        <p:spPr>
          <a:xfrm rot="5400000">
            <a:off x="8780164" y="2816619"/>
            <a:ext cx="727681" cy="4653763"/>
          </a:xfrm>
          <a:custGeom>
            <a:avLst/>
            <a:gdLst/>
            <a:ahLst/>
            <a:cxnLst/>
            <a:rect l="l" t="t" r="r" b="b"/>
            <a:pathLst>
              <a:path w="727681" h="4653763">
                <a:moveTo>
                  <a:pt x="0" y="0"/>
                </a:moveTo>
                <a:lnTo>
                  <a:pt x="727681" y="0"/>
                </a:lnTo>
                <a:lnTo>
                  <a:pt x="727681" y="4653762"/>
                </a:lnTo>
                <a:lnTo>
                  <a:pt x="0" y="4653762"/>
                </a:lnTo>
                <a:lnTo>
                  <a:pt x="0" y="0"/>
                </a:lnTo>
                <a:close/>
              </a:path>
            </a:pathLst>
          </a:custGeom>
          <a:blipFill>
            <a:blip r:embed="rId8">
              <a:extLst>
                <a:ext uri="{96DAC541-7B7A-43D3-8B79-37D633B846F1}">
                  <asvg:svgBlip xmlns:asvg="http://schemas.microsoft.com/office/drawing/2016/SVG/main" r:embed="rId9"/>
                </a:ext>
              </a:extLst>
            </a:blip>
            <a:stretch>
              <a:fillRect l="-352" r="-352"/>
            </a:stretch>
          </a:blipFill>
        </p:spPr>
      </p:sp>
      <p:sp>
        <p:nvSpPr>
          <p:cNvPr id="10" name="Freeform 10"/>
          <p:cNvSpPr/>
          <p:nvPr/>
        </p:nvSpPr>
        <p:spPr>
          <a:xfrm>
            <a:off x="8747141" y="4801381"/>
            <a:ext cx="727681" cy="4653763"/>
          </a:xfrm>
          <a:custGeom>
            <a:avLst/>
            <a:gdLst/>
            <a:ahLst/>
            <a:cxnLst/>
            <a:rect l="l" t="t" r="r" b="b"/>
            <a:pathLst>
              <a:path w="727681" h="4653763">
                <a:moveTo>
                  <a:pt x="0" y="0"/>
                </a:moveTo>
                <a:lnTo>
                  <a:pt x="727681" y="0"/>
                </a:lnTo>
                <a:lnTo>
                  <a:pt x="727681" y="4653763"/>
                </a:lnTo>
                <a:lnTo>
                  <a:pt x="0" y="4653763"/>
                </a:lnTo>
                <a:lnTo>
                  <a:pt x="0" y="0"/>
                </a:lnTo>
                <a:close/>
              </a:path>
            </a:pathLst>
          </a:custGeom>
          <a:blipFill>
            <a:blip r:embed="rId8">
              <a:extLst>
                <a:ext uri="{96DAC541-7B7A-43D3-8B79-37D633B846F1}">
                  <asvg:svgBlip xmlns:asvg="http://schemas.microsoft.com/office/drawing/2016/SVG/main" r:embed="rId9"/>
                </a:ext>
              </a:extLst>
            </a:blip>
            <a:stretch>
              <a:fillRect l="-352" r="-352"/>
            </a:stretch>
          </a:blipFill>
        </p:spPr>
      </p:sp>
      <p:sp>
        <p:nvSpPr>
          <p:cNvPr id="11" name="Freeform 11"/>
          <p:cNvSpPr/>
          <p:nvPr/>
        </p:nvSpPr>
        <p:spPr>
          <a:xfrm>
            <a:off x="16590121" y="5749719"/>
            <a:ext cx="1335996" cy="1148953"/>
          </a:xfrm>
          <a:custGeom>
            <a:avLst/>
            <a:gdLst/>
            <a:ahLst/>
            <a:cxnLst/>
            <a:rect l="l" t="t" r="r" b="b"/>
            <a:pathLst>
              <a:path w="1335996" h="1148953">
                <a:moveTo>
                  <a:pt x="0" y="0"/>
                </a:moveTo>
                <a:lnTo>
                  <a:pt x="1335996" y="0"/>
                </a:lnTo>
                <a:lnTo>
                  <a:pt x="1335996" y="1148953"/>
                </a:lnTo>
                <a:lnTo>
                  <a:pt x="0" y="1148953"/>
                </a:lnTo>
                <a:lnTo>
                  <a:pt x="0" y="0"/>
                </a:lnTo>
                <a:close/>
              </a:path>
            </a:pathLst>
          </a:custGeom>
          <a:blipFill>
            <a:blip r:embed="rId10">
              <a:extLst>
                <a:ext uri="{96DAC541-7B7A-43D3-8B79-37D633B846F1}">
                  <asvg:svgBlip xmlns:asvg="http://schemas.microsoft.com/office/drawing/2016/SVG/main" r:embed="rId11"/>
                </a:ext>
              </a:extLst>
            </a:blip>
            <a:stretch>
              <a:fillRect l="-107" r="-106"/>
            </a:stretch>
          </a:blipFill>
        </p:spPr>
      </p:sp>
      <p:sp>
        <p:nvSpPr>
          <p:cNvPr id="12" name="Freeform 12"/>
          <p:cNvSpPr/>
          <p:nvPr/>
        </p:nvSpPr>
        <p:spPr>
          <a:xfrm>
            <a:off x="16086782" y="1198597"/>
            <a:ext cx="1467317" cy="1003106"/>
          </a:xfrm>
          <a:custGeom>
            <a:avLst/>
            <a:gdLst/>
            <a:ahLst/>
            <a:cxnLst/>
            <a:rect l="l" t="t" r="r" b="b"/>
            <a:pathLst>
              <a:path w="1467317" h="1003106">
                <a:moveTo>
                  <a:pt x="0" y="0"/>
                </a:moveTo>
                <a:lnTo>
                  <a:pt x="1467317" y="0"/>
                </a:lnTo>
                <a:lnTo>
                  <a:pt x="1467317" y="1003107"/>
                </a:lnTo>
                <a:lnTo>
                  <a:pt x="0" y="1003107"/>
                </a:lnTo>
                <a:lnTo>
                  <a:pt x="0" y="0"/>
                </a:lnTo>
                <a:close/>
              </a:path>
            </a:pathLst>
          </a:custGeom>
          <a:blipFill>
            <a:blip r:embed="rId12">
              <a:extLst>
                <a:ext uri="{96DAC541-7B7A-43D3-8B79-37D633B846F1}">
                  <asvg:svgBlip xmlns:asvg="http://schemas.microsoft.com/office/drawing/2016/SVG/main" r:embed="rId13"/>
                </a:ext>
              </a:extLst>
            </a:blip>
            <a:stretch>
              <a:fillRect t="-17" b="-18"/>
            </a:stretch>
          </a:blipFill>
        </p:spPr>
      </p:sp>
      <p:sp>
        <p:nvSpPr>
          <p:cNvPr id="13" name="Freeform 13"/>
          <p:cNvSpPr/>
          <p:nvPr/>
        </p:nvSpPr>
        <p:spPr>
          <a:xfrm>
            <a:off x="7788440" y="8131235"/>
            <a:ext cx="918048" cy="1127065"/>
          </a:xfrm>
          <a:custGeom>
            <a:avLst/>
            <a:gdLst/>
            <a:ahLst/>
            <a:cxnLst/>
            <a:rect l="l" t="t" r="r" b="b"/>
            <a:pathLst>
              <a:path w="918048" h="1127065">
                <a:moveTo>
                  <a:pt x="0" y="0"/>
                </a:moveTo>
                <a:lnTo>
                  <a:pt x="918048" y="0"/>
                </a:lnTo>
                <a:lnTo>
                  <a:pt x="918048" y="1127065"/>
                </a:lnTo>
                <a:lnTo>
                  <a:pt x="0" y="1127065"/>
                </a:lnTo>
                <a:lnTo>
                  <a:pt x="0" y="0"/>
                </a:lnTo>
                <a:close/>
              </a:path>
            </a:pathLst>
          </a:custGeom>
          <a:blipFill>
            <a:blip r:embed="rId14">
              <a:extLst>
                <a:ext uri="{96DAC541-7B7A-43D3-8B79-37D633B846F1}">
                  <asvg:svgBlip xmlns:asvg="http://schemas.microsoft.com/office/drawing/2016/SVG/main" r:embed="rId15"/>
                </a:ext>
              </a:extLst>
            </a:blip>
            <a:stretch>
              <a:fillRect l="-35" r="-36"/>
            </a:stretch>
          </a:blipFill>
        </p:spPr>
      </p:sp>
      <p:sp>
        <p:nvSpPr>
          <p:cNvPr id="14" name="TextBox 14"/>
          <p:cNvSpPr txBox="1"/>
          <p:nvPr/>
        </p:nvSpPr>
        <p:spPr>
          <a:xfrm>
            <a:off x="1399051" y="2087404"/>
            <a:ext cx="14614874" cy="2011042"/>
          </a:xfrm>
          <a:prstGeom prst="rect">
            <a:avLst/>
          </a:prstGeom>
        </p:spPr>
        <p:txBody>
          <a:bodyPr lIns="0" tIns="0" rIns="0" bIns="0" rtlCol="0" anchor="t">
            <a:spAutoFit/>
          </a:bodyPr>
          <a:lstStyle/>
          <a:p>
            <a:pPr algn="l">
              <a:lnSpc>
                <a:spcPts val="3078"/>
              </a:lnSpc>
            </a:pPr>
            <a:r>
              <a:rPr lang="en-US" sz="2199">
                <a:solidFill>
                  <a:srgbClr val="1D1D1B"/>
                </a:solidFill>
                <a:latin typeface="Poppins"/>
                <a:ea typeface="Poppins"/>
                <a:cs typeface="Poppins"/>
                <a:sym typeface="Poppins"/>
              </a:rPr>
              <a:t>A smart control signal is an advanced traffic management system that uses sensors, cameras, and real-time data to control traffic lights automatically. It helps regulate the flow of vehicles based on current road conditions instead of fixed timing. With increasing urban traffic, traditional traffic lights often cause congestion and delays. Smart control signals aim to improve road efficiency, safety, and overall transportation management.</a:t>
            </a:r>
          </a:p>
        </p:txBody>
      </p:sp>
      <p:sp>
        <p:nvSpPr>
          <p:cNvPr id="15" name="TextBox 15"/>
          <p:cNvSpPr txBox="1"/>
          <p:nvPr/>
        </p:nvSpPr>
        <p:spPr>
          <a:xfrm>
            <a:off x="1203855" y="6134214"/>
            <a:ext cx="6848456" cy="2882903"/>
          </a:xfrm>
          <a:prstGeom prst="rect">
            <a:avLst/>
          </a:prstGeom>
        </p:spPr>
        <p:txBody>
          <a:bodyPr lIns="0" tIns="0" rIns="0" bIns="0" rtlCol="0" anchor="t">
            <a:spAutoFit/>
          </a:bodyPr>
          <a:lstStyle/>
          <a:p>
            <a:pPr algn="l">
              <a:lnSpc>
                <a:spcPts val="2799"/>
              </a:lnSpc>
            </a:pPr>
            <a:r>
              <a:rPr lang="en-US" sz="1999">
                <a:solidFill>
                  <a:srgbClr val="FCF5F5"/>
                </a:solidFill>
                <a:latin typeface="Poppins"/>
                <a:ea typeface="Poppins"/>
                <a:cs typeface="Poppins"/>
                <a:sym typeface="Poppins"/>
              </a:rPr>
              <a:t>The objective of a smart control signal system is to improve traffic flow by adjusting signal timings according to real-time traffic conditions. It aims to reduce traffic congestion and waiting time at intersections. Another goal is to enhance road safety for drivers, cyclists, and pedestrians. The system also seeks to make transportation more efficient through the use of modern technology.</a:t>
            </a:r>
          </a:p>
        </p:txBody>
      </p:sp>
      <p:sp>
        <p:nvSpPr>
          <p:cNvPr id="16" name="TextBox 16"/>
          <p:cNvSpPr txBox="1"/>
          <p:nvPr/>
        </p:nvSpPr>
        <p:spPr>
          <a:xfrm>
            <a:off x="1214418" y="5450186"/>
            <a:ext cx="5037439" cy="491490"/>
          </a:xfrm>
          <a:prstGeom prst="rect">
            <a:avLst/>
          </a:prstGeom>
        </p:spPr>
        <p:txBody>
          <a:bodyPr lIns="0" tIns="0" rIns="0" bIns="0" rtlCol="0" anchor="t">
            <a:spAutoFit/>
          </a:bodyPr>
          <a:lstStyle/>
          <a:p>
            <a:pPr algn="l">
              <a:lnSpc>
                <a:spcPts val="3359"/>
              </a:lnSpc>
            </a:pPr>
            <a:r>
              <a:rPr lang="en-US" sz="2399" b="1">
                <a:solidFill>
                  <a:srgbClr val="000000"/>
                </a:solidFill>
                <a:latin typeface="Poppins Bold"/>
                <a:ea typeface="Poppins Bold"/>
                <a:cs typeface="Poppins Bold"/>
                <a:sym typeface="Poppins Bold"/>
              </a:rPr>
              <a:t>Objective</a:t>
            </a:r>
          </a:p>
        </p:txBody>
      </p:sp>
      <p:sp>
        <p:nvSpPr>
          <p:cNvPr id="17" name="TextBox 17"/>
          <p:cNvSpPr txBox="1"/>
          <p:nvPr/>
        </p:nvSpPr>
        <p:spPr>
          <a:xfrm>
            <a:off x="9988220" y="6058157"/>
            <a:ext cx="6767608" cy="2882903"/>
          </a:xfrm>
          <a:prstGeom prst="rect">
            <a:avLst/>
          </a:prstGeom>
        </p:spPr>
        <p:txBody>
          <a:bodyPr lIns="0" tIns="0" rIns="0" bIns="0" rtlCol="0" anchor="t">
            <a:spAutoFit/>
          </a:bodyPr>
          <a:lstStyle/>
          <a:p>
            <a:pPr algn="l">
              <a:lnSpc>
                <a:spcPts val="2799"/>
              </a:lnSpc>
            </a:pPr>
            <a:r>
              <a:rPr lang="en-US" sz="1999">
                <a:solidFill>
                  <a:srgbClr val="FFFFFF"/>
                </a:solidFill>
                <a:latin typeface="Poppins"/>
                <a:ea typeface="Poppins"/>
                <a:cs typeface="Poppins"/>
                <a:sym typeface="Poppins"/>
              </a:rPr>
              <a:t>The significance of smart control signals lies in their ability to reduce traffic congestion and save travel time for road users. They help lower fuel consumption and reduce air pollution caused by vehicles waiting at intersections. Smart signals also contribute to safer roads by managing traffic more effectively. Additionally, they support the development of smarter and more sustainable cities.</a:t>
            </a:r>
          </a:p>
        </p:txBody>
      </p:sp>
      <p:sp>
        <p:nvSpPr>
          <p:cNvPr id="18" name="TextBox 18"/>
          <p:cNvSpPr txBox="1"/>
          <p:nvPr/>
        </p:nvSpPr>
        <p:spPr>
          <a:xfrm>
            <a:off x="9988220" y="5509241"/>
            <a:ext cx="5317779" cy="432435"/>
          </a:xfrm>
          <a:prstGeom prst="rect">
            <a:avLst/>
          </a:prstGeom>
        </p:spPr>
        <p:txBody>
          <a:bodyPr lIns="0" tIns="0" rIns="0" bIns="0" rtlCol="0" anchor="t">
            <a:spAutoFit/>
          </a:bodyPr>
          <a:lstStyle/>
          <a:p>
            <a:pPr algn="l">
              <a:lnSpc>
                <a:spcPts val="2940"/>
              </a:lnSpc>
            </a:pPr>
            <a:r>
              <a:rPr lang="en-US" sz="2100" b="1">
                <a:solidFill>
                  <a:srgbClr val="1D1D1B"/>
                </a:solidFill>
                <a:latin typeface="Poppins Bold"/>
                <a:ea typeface="Poppins Bold"/>
                <a:cs typeface="Poppins Bold"/>
                <a:sym typeface="Poppins Bold"/>
              </a:rPr>
              <a:t>Significance of the Study</a:t>
            </a:r>
          </a:p>
        </p:txBody>
      </p:sp>
      <p:sp>
        <p:nvSpPr>
          <p:cNvPr id="19" name="TextBox 19"/>
          <p:cNvSpPr txBox="1"/>
          <p:nvPr/>
        </p:nvSpPr>
        <p:spPr>
          <a:xfrm>
            <a:off x="1214418" y="902370"/>
            <a:ext cx="3413665" cy="478155"/>
          </a:xfrm>
          <a:prstGeom prst="rect">
            <a:avLst/>
          </a:prstGeom>
        </p:spPr>
        <p:txBody>
          <a:bodyPr lIns="0" tIns="0" rIns="0" bIns="0" rtlCol="0" anchor="t">
            <a:spAutoFit/>
          </a:bodyPr>
          <a:lstStyle/>
          <a:p>
            <a:pPr algn="l">
              <a:lnSpc>
                <a:spcPts val="2640"/>
              </a:lnSpc>
            </a:pPr>
            <a:r>
              <a:rPr lang="en-US" sz="2400" b="1">
                <a:solidFill>
                  <a:srgbClr val="1D1D1B"/>
                </a:solidFill>
                <a:latin typeface="Agrandir Bold"/>
                <a:ea typeface="Agrandir Bold"/>
                <a:cs typeface="Agrandir Bold"/>
                <a:sym typeface="Agrandir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591298630"/>
              </p:ext>
            </p:extLst>
          </p:nvPr>
        </p:nvGraphicFramePr>
        <p:xfrm>
          <a:off x="1028700" y="2542388"/>
          <a:ext cx="16205201" cy="6680200"/>
        </p:xfrm>
        <a:graphic>
          <a:graphicData uri="http://schemas.openxmlformats.org/drawingml/2006/table">
            <a:tbl>
              <a:tblPr/>
              <a:tblGrid>
                <a:gridCol w="3239310">
                  <a:extLst>
                    <a:ext uri="{9D8B030D-6E8A-4147-A177-3AD203B41FA5}">
                      <a16:colId xmlns:a16="http://schemas.microsoft.com/office/drawing/2014/main" val="20000"/>
                    </a:ext>
                  </a:extLst>
                </a:gridCol>
                <a:gridCol w="4215278">
                  <a:extLst>
                    <a:ext uri="{9D8B030D-6E8A-4147-A177-3AD203B41FA5}">
                      <a16:colId xmlns:a16="http://schemas.microsoft.com/office/drawing/2014/main" val="20001"/>
                    </a:ext>
                  </a:extLst>
                </a:gridCol>
                <a:gridCol w="4215278">
                  <a:extLst>
                    <a:ext uri="{9D8B030D-6E8A-4147-A177-3AD203B41FA5}">
                      <a16:colId xmlns:a16="http://schemas.microsoft.com/office/drawing/2014/main" val="20002"/>
                    </a:ext>
                  </a:extLst>
                </a:gridCol>
                <a:gridCol w="4535335">
                  <a:extLst>
                    <a:ext uri="{9D8B030D-6E8A-4147-A177-3AD203B41FA5}">
                      <a16:colId xmlns:a16="http://schemas.microsoft.com/office/drawing/2014/main" val="20003"/>
                    </a:ext>
                  </a:extLst>
                </a:gridCol>
              </a:tblGrid>
              <a:tr h="938304">
                <a:tc>
                  <a:txBody>
                    <a:bodyPr/>
                    <a:lstStyle/>
                    <a:p>
                      <a:pPr algn="ctr">
                        <a:lnSpc>
                          <a:spcPts val="1680"/>
                        </a:lnSpc>
                        <a:defRPr/>
                      </a:pPr>
                      <a:r>
                        <a:rPr lang="en-US" sz="1800" b="1">
                          <a:solidFill>
                            <a:srgbClr val="000000"/>
                          </a:solidFill>
                          <a:latin typeface="Canva Sans Bold"/>
                          <a:ea typeface="Canva Sans Bold"/>
                          <a:cs typeface="Canva Sans Bold"/>
                          <a:sym typeface="Canva Sans Bold"/>
                        </a:rPr>
                        <a:t>Full Title</a:t>
                      </a:r>
                      <a:r>
                        <a:rPr lang="en-US" sz="1800">
                          <a:solidFill>
                            <a:srgbClr val="000000"/>
                          </a:solidFill>
                          <a:latin typeface="Canva Sans"/>
                          <a:ea typeface="Canva Sans"/>
                          <a:cs typeface="Canva Sans"/>
                          <a:sym typeface="Canva Sans"/>
                        </a:rPr>
                        <a:t> </a:t>
                      </a:r>
                      <a:endParaRPr lang="en-US" sz="1100"/>
                    </a:p>
                    <a:p>
                      <a:pPr algn="ctr">
                        <a:lnSpc>
                          <a:spcPts val="1680"/>
                        </a:lnSpc>
                      </a:pPr>
                      <a:r>
                        <a:rPr lang="en-US" sz="180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b="1" dirty="0">
                          <a:solidFill>
                            <a:srgbClr val="000000"/>
                          </a:solidFill>
                          <a:latin typeface="Canva Sans Bold"/>
                          <a:ea typeface="Canva Sans Bold"/>
                          <a:cs typeface="Canva Sans Bold"/>
                          <a:sym typeface="Canva Sans Bold"/>
                        </a:rPr>
                        <a:t>Adaptive Neural Traffic Orchestration: AI-Driven Network Optimization for Dynamic Congestion Mitigation(2020)</a:t>
                      </a:r>
                      <a:r>
                        <a:rPr lang="en-US" sz="1200" dirty="0">
                          <a:solidFill>
                            <a:srgbClr val="000000"/>
                          </a:solidFill>
                          <a:latin typeface="Canva Sans"/>
                          <a:ea typeface="Canva Sans"/>
                          <a:cs typeface="Canva Sans"/>
                          <a:sym typeface="Canva Sans"/>
                        </a:rPr>
                        <a:t> </a:t>
                      </a:r>
                      <a:endParaRPr lang="en-US" sz="1100" dirty="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400" b="1" dirty="0">
                          <a:solidFill>
                            <a:srgbClr val="008247"/>
                          </a:solidFill>
                          <a:latin typeface="Canva Sans Bold"/>
                          <a:ea typeface="Canva Sans Bold"/>
                          <a:cs typeface="Canva Sans Bold"/>
                          <a:sym typeface="Canva Sans Bold"/>
                        </a:rPr>
                        <a:t>Adaptive urban traffic signal control based on enhanced deep reinforcement learning(2024)</a:t>
                      </a:r>
                      <a:r>
                        <a:rPr lang="en-US" sz="1400" dirty="0">
                          <a:solidFill>
                            <a:srgbClr val="008247"/>
                          </a:solidFill>
                          <a:latin typeface="Canva Sans"/>
                          <a:ea typeface="Canva Sans"/>
                          <a:cs typeface="Canva Sans"/>
                          <a:sym typeface="Canva Sans"/>
                        </a:rPr>
                        <a:t> </a:t>
                      </a:r>
                      <a:endParaRPr lang="en-US" sz="1200" dirty="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b="1">
                          <a:solidFill>
                            <a:srgbClr val="000000"/>
                          </a:solidFill>
                          <a:latin typeface="Canva Sans Bold"/>
                          <a:ea typeface="Canva Sans Bold"/>
                          <a:cs typeface="Canva Sans Bold"/>
                          <a:sym typeface="Canva Sans Bold"/>
                        </a:rPr>
                        <a:t>Joint Pedestrian and Vehicle Traffic Optimization in Urban Environments using Reinforcement Learning(2025)</a:t>
                      </a:r>
                      <a:r>
                        <a:rPr lang="en-US" sz="12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13966">
                <a:tc>
                  <a:txBody>
                    <a:bodyPr/>
                    <a:lstStyle/>
                    <a:p>
                      <a:pPr algn="ctr">
                        <a:lnSpc>
                          <a:spcPts val="1680"/>
                        </a:lnSpc>
                        <a:defRPr/>
                      </a:pPr>
                      <a:r>
                        <a:rPr lang="en-US" sz="1800" b="1">
                          <a:solidFill>
                            <a:srgbClr val="000000"/>
                          </a:solidFill>
                          <a:latin typeface="Canva Sans Bold"/>
                          <a:ea typeface="Canva Sans Bold"/>
                          <a:cs typeface="Canva Sans Bold"/>
                          <a:sym typeface="Canva Sans Bold"/>
                        </a:rPr>
                        <a:t>Base Model</a:t>
                      </a:r>
                      <a:r>
                        <a:rPr lang="en-US" sz="1800">
                          <a:solidFill>
                            <a:srgbClr val="000000"/>
                          </a:solidFill>
                          <a:latin typeface="Canva Sans"/>
                          <a:ea typeface="Canva Sans"/>
                          <a:cs typeface="Canva Sans"/>
                          <a:sym typeface="Canva Sans"/>
                        </a:rPr>
                        <a:t> </a:t>
                      </a:r>
                      <a:endParaRPr lang="en-US" sz="1100"/>
                    </a:p>
                    <a:p>
                      <a:pPr algn="ctr">
                        <a:lnSpc>
                          <a:spcPts val="1680"/>
                        </a:lnSpc>
                      </a:pPr>
                      <a:r>
                        <a:rPr lang="en-US" sz="180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Hybrid deep learning and reinforcement learning framework combining </a:t>
                      </a:r>
                      <a:r>
                        <a:rPr lang="en-US" sz="1200" b="1">
                          <a:solidFill>
                            <a:srgbClr val="000000"/>
                          </a:solidFill>
                          <a:latin typeface="Canva Sans Bold"/>
                          <a:ea typeface="Canva Sans Bold"/>
                          <a:cs typeface="Canva Sans Bold"/>
                          <a:sym typeface="Canva Sans Bold"/>
                        </a:rPr>
                        <a:t>Graph Convolutional Networks (GCN)</a:t>
                      </a:r>
                      <a:r>
                        <a:rPr lang="en-US" sz="1200">
                          <a:solidFill>
                            <a:srgbClr val="000000"/>
                          </a:solidFill>
                          <a:latin typeface="Canva Sans"/>
                          <a:ea typeface="Canva Sans"/>
                          <a:cs typeface="Canva Sans"/>
                          <a:sym typeface="Canva Sans"/>
                        </a:rPr>
                        <a:t> for spatial traffic modeling, </a:t>
                      </a:r>
                      <a:r>
                        <a:rPr lang="en-US" sz="1200" b="1">
                          <a:solidFill>
                            <a:srgbClr val="000000"/>
                          </a:solidFill>
                          <a:latin typeface="Canva Sans Bold"/>
                          <a:ea typeface="Canva Sans Bold"/>
                          <a:cs typeface="Canva Sans Bold"/>
                          <a:sym typeface="Canva Sans Bold"/>
                        </a:rPr>
                        <a:t>LSTM-based temporal prediction</a:t>
                      </a:r>
                      <a:r>
                        <a:rPr lang="en-US" sz="1200">
                          <a:solidFill>
                            <a:srgbClr val="000000"/>
                          </a:solidFill>
                          <a:latin typeface="Canva Sans"/>
                          <a:ea typeface="Canva Sans"/>
                          <a:cs typeface="Canva Sans"/>
                          <a:sym typeface="Canva Sans"/>
                        </a:rPr>
                        <a:t>, and </a:t>
                      </a:r>
                      <a:r>
                        <a:rPr lang="en-US" sz="1200" b="1">
                          <a:solidFill>
                            <a:srgbClr val="000000"/>
                          </a:solidFill>
                          <a:latin typeface="Canva Sans Bold"/>
                          <a:ea typeface="Canva Sans Bold"/>
                          <a:cs typeface="Canva Sans Bold"/>
                          <a:sym typeface="Canva Sans Bold"/>
                        </a:rPr>
                        <a:t>Proximal Policy Optimization (PPO)</a:t>
                      </a:r>
                      <a:r>
                        <a:rPr lang="en-US" sz="1200">
                          <a:solidFill>
                            <a:srgbClr val="000000"/>
                          </a:solidFill>
                          <a:latin typeface="Canva Sans"/>
                          <a:ea typeface="Canva Sans"/>
                          <a:cs typeface="Canva Sans"/>
                          <a:sym typeface="Canva Sans"/>
                        </a:rPr>
                        <a:t> for multi-objective traffic control decision making.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DRL based on Deep Q-Network </a:t>
                      </a:r>
                      <a:r>
                        <a:rPr lang="en-US" sz="1200" b="1">
                          <a:solidFill>
                            <a:srgbClr val="000000"/>
                          </a:solidFill>
                          <a:latin typeface="Canva Sans Bold"/>
                          <a:ea typeface="Canva Sans Bold"/>
                          <a:cs typeface="Canva Sans Bold"/>
                          <a:sym typeface="Canva Sans Bold"/>
                        </a:rPr>
                        <a:t>(DQN)</a:t>
                      </a:r>
                      <a:r>
                        <a:rPr lang="en-US" sz="1200">
                          <a:solidFill>
                            <a:srgbClr val="000000"/>
                          </a:solidFill>
                          <a:latin typeface="Canva Sans"/>
                          <a:ea typeface="Canva Sans"/>
                          <a:cs typeface="Canva Sans"/>
                          <a:sym typeface="Canva Sans"/>
                        </a:rPr>
                        <a:t> with </a:t>
                      </a:r>
                      <a:r>
                        <a:rPr lang="en-US" sz="1200" b="1">
                          <a:solidFill>
                            <a:srgbClr val="000000"/>
                          </a:solidFill>
                          <a:latin typeface="Canva Sans Bold"/>
                          <a:ea typeface="Canva Sans Bold"/>
                          <a:cs typeface="Canva Sans Bold"/>
                          <a:sym typeface="Canva Sans Bold"/>
                        </a:rPr>
                        <a:t>Value-based</a:t>
                      </a:r>
                      <a:r>
                        <a:rPr lang="en-US" sz="1200">
                          <a:solidFill>
                            <a:srgbClr val="000000"/>
                          </a:solidFill>
                          <a:latin typeface="Canva Sans"/>
                          <a:ea typeface="Canva Sans"/>
                          <a:cs typeface="Canva Sans"/>
                          <a:sym typeface="Canva Sans"/>
                        </a:rPr>
                        <a:t> architecture, enhanced into a Dueling Double Deep Q-Network (D3QN), and further extended into the proposed </a:t>
                      </a:r>
                      <a:r>
                        <a:rPr lang="en-US" sz="1200" b="1">
                          <a:solidFill>
                            <a:srgbClr val="000000"/>
                          </a:solidFill>
                          <a:latin typeface="Canva Sans Bold"/>
                          <a:ea typeface="Canva Sans Bold"/>
                          <a:cs typeface="Canva Sans Bold"/>
                          <a:sym typeface="Canva Sans Bold"/>
                        </a:rPr>
                        <a:t>PN_D3QN</a:t>
                      </a:r>
                      <a:r>
                        <a:rPr lang="en-US" sz="1200">
                          <a:solidFill>
                            <a:srgbClr val="000000"/>
                          </a:solidFill>
                          <a:latin typeface="Canva Sans"/>
                          <a:ea typeface="Canva Sans"/>
                          <a:cs typeface="Canva Sans"/>
                          <a:sym typeface="Canva Sans"/>
                        </a:rPr>
                        <a:t> model by integrating prioritized experience replay (PER) and noisy network mechanisms.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Deep Reinforcement Learning framework for corridor-level Adaptive Traffic Signal Control (ATSC) using </a:t>
                      </a:r>
                      <a:r>
                        <a:rPr lang="en-US" sz="1200" b="1">
                          <a:solidFill>
                            <a:srgbClr val="000000"/>
                          </a:solidFill>
                          <a:latin typeface="Canva Sans Bold"/>
                          <a:ea typeface="Canva Sans Bold"/>
                          <a:cs typeface="Canva Sans Bold"/>
                          <a:sym typeface="Canva Sans Bold"/>
                        </a:rPr>
                        <a:t>Proximal Policy Optimization (PPO)</a:t>
                      </a:r>
                      <a:r>
                        <a:rPr lang="en-US" sz="1200">
                          <a:solidFill>
                            <a:srgbClr val="000000"/>
                          </a:solidFill>
                          <a:latin typeface="Canva Sans"/>
                          <a:ea typeface="Canva Sans"/>
                          <a:cs typeface="Canva Sans"/>
                          <a:sym typeface="Canva Sans"/>
                        </a:rPr>
                        <a:t> with </a:t>
                      </a:r>
                      <a:r>
                        <a:rPr lang="en-US" sz="1200" b="1">
                          <a:solidFill>
                            <a:srgbClr val="000000"/>
                          </a:solidFill>
                          <a:latin typeface="Canva Sans Bold"/>
                          <a:ea typeface="Canva Sans Bold"/>
                          <a:cs typeface="Canva Sans Bold"/>
                          <a:sym typeface="Canva Sans Bold"/>
                        </a:rPr>
                        <a:t>Actor</a:t>
                      </a:r>
                      <a:r>
                        <a:rPr lang="en-US" sz="1200">
                          <a:solidFill>
                            <a:srgbClr val="000000"/>
                          </a:solidFill>
                          <a:latin typeface="Canva Sans"/>
                          <a:ea typeface="Canva Sans"/>
                          <a:cs typeface="Canva Sans"/>
                          <a:sym typeface="Canva Sans"/>
                        </a:rPr>
                        <a:t>–</a:t>
                      </a:r>
                      <a:r>
                        <a:rPr lang="en-US" sz="1200" b="1">
                          <a:solidFill>
                            <a:srgbClr val="000000"/>
                          </a:solidFill>
                          <a:latin typeface="Canva Sans Bold"/>
                          <a:ea typeface="Canva Sans Bold"/>
                          <a:cs typeface="Canva Sans Bold"/>
                          <a:sym typeface="Canva Sans Bold"/>
                        </a:rPr>
                        <a:t>Critic</a:t>
                      </a:r>
                      <a:r>
                        <a:rPr lang="en-US" sz="1200">
                          <a:solidFill>
                            <a:srgbClr val="000000"/>
                          </a:solidFill>
                          <a:latin typeface="Canva Sans"/>
                          <a:ea typeface="Canva Sans"/>
                          <a:cs typeface="Canva Sans"/>
                          <a:sym typeface="Canva Sans"/>
                        </a:rPr>
                        <a:t> architecture. </a:t>
                      </a:r>
                      <a:endParaRPr lang="en-US" sz="1100"/>
                    </a:p>
                    <a:p>
                      <a:pPr algn="ctr">
                        <a:lnSpc>
                          <a:spcPts val="1679"/>
                        </a:lnSpc>
                      </a:pPr>
                      <a:r>
                        <a:rPr lang="en-US" sz="120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01796">
                <a:tc>
                  <a:txBody>
                    <a:bodyPr/>
                    <a:lstStyle/>
                    <a:p>
                      <a:pPr algn="ctr">
                        <a:lnSpc>
                          <a:spcPts val="1680"/>
                        </a:lnSpc>
                        <a:defRPr/>
                      </a:pPr>
                      <a:r>
                        <a:rPr lang="en-US" sz="1800" b="1">
                          <a:solidFill>
                            <a:srgbClr val="000000"/>
                          </a:solidFill>
                          <a:latin typeface="Canva Sans Bold"/>
                          <a:ea typeface="Canva Sans Bold"/>
                          <a:cs typeface="Canva Sans Bold"/>
                          <a:sym typeface="Canva Sans Bold"/>
                        </a:rPr>
                        <a:t>Training Approach</a:t>
                      </a:r>
                      <a:r>
                        <a:rPr lang="en-US" sz="1800">
                          <a:solidFill>
                            <a:srgbClr val="000000"/>
                          </a:solidFill>
                          <a:latin typeface="Canva Sans"/>
                          <a:ea typeface="Canva Sans"/>
                          <a:cs typeface="Canva Sans"/>
                          <a:sym typeface="Canva Sans"/>
                        </a:rPr>
                        <a:t> </a:t>
                      </a:r>
                      <a:endParaRPr lang="en-US" sz="1100"/>
                    </a:p>
                    <a:p>
                      <a:pPr algn="ctr">
                        <a:lnSpc>
                          <a:spcPts val="1680"/>
                        </a:lnSpc>
                      </a:pPr>
                      <a:r>
                        <a:rPr lang="en-US" sz="180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Policy learning is performed using the Proximal Policy Optimization (</a:t>
                      </a:r>
                      <a:r>
                        <a:rPr lang="en-US" sz="1200" b="1">
                          <a:solidFill>
                            <a:srgbClr val="000000"/>
                          </a:solidFill>
                          <a:latin typeface="Canva Sans Bold"/>
                          <a:ea typeface="Canva Sans Bold"/>
                          <a:cs typeface="Canva Sans Bold"/>
                          <a:sym typeface="Canva Sans Bold"/>
                        </a:rPr>
                        <a:t>PPO</a:t>
                      </a:r>
                      <a:r>
                        <a:rPr lang="en-US" sz="1200">
                          <a:solidFill>
                            <a:srgbClr val="000000"/>
                          </a:solidFill>
                          <a:latin typeface="Canva Sans"/>
                          <a:ea typeface="Canva Sans"/>
                          <a:cs typeface="Canva Sans"/>
                          <a:sym typeface="Canva Sans"/>
                        </a:rPr>
                        <a:t>) algorithm within a reinforcement learning framework where the agent interacts with a simulated urban traffic environment. reinforcement agent optimized with </a:t>
                      </a:r>
                      <a:r>
                        <a:rPr lang="en-US" sz="1200" b="1">
                          <a:solidFill>
                            <a:srgbClr val="000000"/>
                          </a:solidFill>
                          <a:latin typeface="Canva Sans Bold"/>
                          <a:ea typeface="Canva Sans Bold"/>
                          <a:cs typeface="Canva Sans Bold"/>
                          <a:sym typeface="Canva Sans Bold"/>
                        </a:rPr>
                        <a:t>multi-objective</a:t>
                      </a:r>
                      <a:r>
                        <a:rPr lang="en-US" sz="1200">
                          <a:solidFill>
                            <a:srgbClr val="000000"/>
                          </a:solidFill>
                          <a:latin typeface="Canva Sans"/>
                          <a:ea typeface="Canva Sans"/>
                          <a:cs typeface="Canva Sans"/>
                          <a:sym typeface="Canva Sans"/>
                        </a:rPr>
                        <a:t> </a:t>
                      </a:r>
                      <a:r>
                        <a:rPr lang="en-US" sz="1200" b="1">
                          <a:solidFill>
                            <a:srgbClr val="000000"/>
                          </a:solidFill>
                          <a:latin typeface="Canva Sans Bold"/>
                          <a:ea typeface="Canva Sans Bold"/>
                          <a:cs typeface="Canva Sans Bold"/>
                          <a:sym typeface="Canva Sans Bold"/>
                        </a:rPr>
                        <a:t>rewards</a:t>
                      </a:r>
                      <a:r>
                        <a:rPr lang="en-US" sz="1200">
                          <a:solidFill>
                            <a:srgbClr val="000000"/>
                          </a:solidFill>
                          <a:latin typeface="Canva Sans"/>
                          <a:ea typeface="Canva Sans"/>
                          <a:cs typeface="Canva Sans"/>
                          <a:sym typeface="Canva Sans"/>
                        </a:rPr>
                        <a:t> balancing travel time, emissions, fairness, and stability.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The agent is trained to approximate the optimal action-value function using a convolutional and fully connected neural network. Transitions are stored as (s, a, r, s′) in replay memory. The model integrates </a:t>
                      </a:r>
                      <a:r>
                        <a:rPr lang="en-US" sz="1200" b="1">
                          <a:solidFill>
                            <a:srgbClr val="000000"/>
                          </a:solidFill>
                          <a:latin typeface="Canva Sans Bold"/>
                          <a:ea typeface="Canva Sans Bold"/>
                          <a:cs typeface="Canva Sans Bold"/>
                          <a:sym typeface="Canva Sans Bold"/>
                        </a:rPr>
                        <a:t>dueling</a:t>
                      </a:r>
                      <a:r>
                        <a:rPr lang="en-US" sz="1200">
                          <a:solidFill>
                            <a:srgbClr val="000000"/>
                          </a:solidFill>
                          <a:latin typeface="Canva Sans"/>
                          <a:ea typeface="Canva Sans"/>
                          <a:cs typeface="Canva Sans"/>
                          <a:sym typeface="Canva Sans"/>
                        </a:rPr>
                        <a:t> network architecture, </a:t>
                      </a:r>
                      <a:r>
                        <a:rPr lang="en-US" sz="1200" b="1">
                          <a:solidFill>
                            <a:srgbClr val="000000"/>
                          </a:solidFill>
                          <a:latin typeface="Canva Sans Bold"/>
                          <a:ea typeface="Canva Sans Bold"/>
                          <a:cs typeface="Canva Sans Bold"/>
                          <a:sym typeface="Canva Sans Bold"/>
                        </a:rPr>
                        <a:t>double</a:t>
                      </a:r>
                      <a:r>
                        <a:rPr lang="en-US" sz="1200">
                          <a:solidFill>
                            <a:srgbClr val="000000"/>
                          </a:solidFill>
                          <a:latin typeface="Canva Sans"/>
                          <a:ea typeface="Canva Sans"/>
                          <a:cs typeface="Canva Sans"/>
                          <a:sym typeface="Canva Sans"/>
                        </a:rPr>
                        <a:t> Q-learning, and </a:t>
                      </a:r>
                      <a:r>
                        <a:rPr lang="en-US" sz="1200" b="1">
                          <a:solidFill>
                            <a:srgbClr val="000000"/>
                          </a:solidFill>
                          <a:latin typeface="Canva Sans Bold"/>
                          <a:ea typeface="Canva Sans Bold"/>
                          <a:cs typeface="Canva Sans Bold"/>
                          <a:sym typeface="Canva Sans Bold"/>
                        </a:rPr>
                        <a:t>noise</a:t>
                      </a:r>
                      <a:r>
                        <a:rPr lang="en-US" sz="1200">
                          <a:solidFill>
                            <a:srgbClr val="000000"/>
                          </a:solidFill>
                          <a:latin typeface="Canva Sans"/>
                          <a:ea typeface="Canva Sans"/>
                          <a:cs typeface="Canva Sans"/>
                          <a:sym typeface="Canva Sans"/>
                        </a:rPr>
                        <a:t> injection, with parameters updated through gradient descent to maximize expected reward.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Centralized training Single Agent trained using </a:t>
                      </a:r>
                      <a:endParaRPr lang="en-US" sz="1100"/>
                    </a:p>
                    <a:p>
                      <a:pPr algn="ctr">
                        <a:lnSpc>
                          <a:spcPts val="1679"/>
                        </a:lnSpc>
                      </a:pPr>
                      <a:r>
                        <a:rPr lang="en-US" sz="1200">
                          <a:solidFill>
                            <a:srgbClr val="000000"/>
                          </a:solidFill>
                          <a:latin typeface="Canva Sans"/>
                          <a:ea typeface="Canva Sans"/>
                          <a:cs typeface="Canva Sans"/>
                          <a:sym typeface="Canva Sans"/>
                        </a:rPr>
                        <a:t> (</a:t>
                      </a:r>
                      <a:r>
                        <a:rPr lang="en-US" sz="1200" b="1">
                          <a:solidFill>
                            <a:srgbClr val="000000"/>
                          </a:solidFill>
                          <a:latin typeface="Canva Sans Bold"/>
                          <a:ea typeface="Canva Sans Bold"/>
                          <a:cs typeface="Canva Sans Bold"/>
                          <a:sym typeface="Canva Sans Bold"/>
                        </a:rPr>
                        <a:t>PPO</a:t>
                      </a:r>
                      <a:r>
                        <a:rPr lang="en-US" sz="1200">
                          <a:solidFill>
                            <a:srgbClr val="000000"/>
                          </a:solidFill>
                          <a:latin typeface="Canva Sans"/>
                          <a:ea typeface="Canva Sans"/>
                          <a:cs typeface="Canva Sans"/>
                          <a:sym typeface="Canva Sans"/>
                        </a:rPr>
                        <a:t>) with Generalized Advantage </a:t>
                      </a:r>
                    </a:p>
                    <a:p>
                      <a:pPr algn="ctr">
                        <a:lnSpc>
                          <a:spcPts val="1679"/>
                        </a:lnSpc>
                      </a:pPr>
                      <a:r>
                        <a:rPr lang="en-US" sz="1200">
                          <a:solidFill>
                            <a:srgbClr val="000000"/>
                          </a:solidFill>
                          <a:latin typeface="Canva Sans"/>
                          <a:ea typeface="Canva Sans"/>
                          <a:cs typeface="Canva Sans"/>
                          <a:sym typeface="Canva Sans"/>
                        </a:rPr>
                        <a:t>Estimation (GAE), Training occurs across 24 parallel actors over </a:t>
                      </a:r>
                    </a:p>
                    <a:p>
                      <a:pPr algn="ctr">
                        <a:lnSpc>
                          <a:spcPts val="1679"/>
                        </a:lnSpc>
                      </a:pPr>
                      <a:r>
                        <a:rPr lang="en-US" sz="1200">
                          <a:solidFill>
                            <a:srgbClr val="000000"/>
                          </a:solidFill>
                          <a:latin typeface="Canva Sans"/>
                          <a:ea typeface="Canva Sans"/>
                          <a:cs typeface="Canva Sans"/>
                          <a:sym typeface="Canva Sans"/>
                        </a:rPr>
                        <a:t> 6 × 10⁶ simulation timesteps.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26134">
                <a:tc>
                  <a:txBody>
                    <a:bodyPr/>
                    <a:lstStyle/>
                    <a:p>
                      <a:pPr algn="ctr">
                        <a:lnSpc>
                          <a:spcPts val="1680"/>
                        </a:lnSpc>
                        <a:defRPr/>
                      </a:pPr>
                      <a:r>
                        <a:rPr lang="en-US" sz="1800" b="1">
                          <a:solidFill>
                            <a:srgbClr val="000000"/>
                          </a:solidFill>
                          <a:latin typeface="Canva Sans Bold"/>
                          <a:ea typeface="Canva Sans Bold"/>
                          <a:cs typeface="Canva Sans Bold"/>
                          <a:sym typeface="Canva Sans Bold"/>
                        </a:rPr>
                        <a:t>Results Summary</a:t>
                      </a:r>
                      <a:r>
                        <a:rPr lang="en-US" sz="1800">
                          <a:solidFill>
                            <a:srgbClr val="000000"/>
                          </a:solidFill>
                          <a:latin typeface="Canva Sans"/>
                          <a:ea typeface="Canva Sans"/>
                          <a:cs typeface="Canva Sans"/>
                          <a:sym typeface="Canva Sans"/>
                        </a:rPr>
                        <a:t> </a:t>
                      </a:r>
                      <a:endParaRPr lang="en-US" sz="1100"/>
                    </a:p>
                    <a:p>
                      <a:pPr algn="ctr">
                        <a:lnSpc>
                          <a:spcPts val="1680"/>
                        </a:lnSpc>
                      </a:pPr>
                      <a:r>
                        <a:rPr lang="en-US" sz="180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D0D0D"/>
                          </a:solidFill>
                          <a:latin typeface="Canva Sans"/>
                          <a:ea typeface="Canva Sans"/>
                          <a:cs typeface="Canva Sans"/>
                          <a:sym typeface="Canva Sans"/>
                        </a:rPr>
                        <a:t>Compared to fixed-time control, ANTO achieved a 27% reduction in average travel time, 36% drop in congestion delays, ~23% lower emissions, and improved throughput and fairness.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a:solidFill>
                            <a:srgbClr val="000000"/>
                          </a:solidFill>
                          <a:latin typeface="Canva Sans"/>
                          <a:ea typeface="Canva Sans"/>
                          <a:cs typeface="Canva Sans"/>
                          <a:sym typeface="Canva Sans"/>
                        </a:rPr>
                        <a:t>The enhanced DRL model converged faster than baseline DRL, and demonstrated lower average waiting times and queue lengths, showing robustness across various traffic densities.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200" dirty="0">
                          <a:solidFill>
                            <a:srgbClr val="000000"/>
                          </a:solidFill>
                          <a:latin typeface="Canva Sans"/>
                          <a:ea typeface="Canva Sans"/>
                          <a:cs typeface="Canva Sans"/>
                          <a:sym typeface="Canva Sans"/>
                        </a:rPr>
                        <a:t>Average pedestrian and vehicle wait times reduced (~67% and ~52% respectively) compared to fixed signals; generalization capabilities across varying traffic demands. </a:t>
                      </a:r>
                      <a:endParaRPr lang="en-US" sz="1100" dirty="0"/>
                    </a:p>
                    <a:p>
                      <a:pPr algn="ctr">
                        <a:lnSpc>
                          <a:spcPts val="1679"/>
                        </a:lnSpc>
                      </a:pPr>
                      <a:r>
                        <a:rPr lang="en-US" sz="1200" dirty="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5945648" y="748855"/>
            <a:ext cx="6396704" cy="493014"/>
          </a:xfrm>
          <a:prstGeom prst="rect">
            <a:avLst/>
          </a:prstGeom>
        </p:spPr>
        <p:txBody>
          <a:bodyPr lIns="0" tIns="0" rIns="0" bIns="0" rtlCol="0" anchor="t">
            <a:spAutoFit/>
          </a:bodyPr>
          <a:lstStyle/>
          <a:p>
            <a:pPr algn="ctr">
              <a:lnSpc>
                <a:spcPts val="3499"/>
              </a:lnSpc>
            </a:pPr>
            <a:r>
              <a:rPr lang="en-US" sz="2499" b="1">
                <a:solidFill>
                  <a:srgbClr val="000000"/>
                </a:solidFill>
                <a:latin typeface="Poppins Bold"/>
                <a:ea typeface="Poppins Bold"/>
                <a:cs typeface="Poppins Bold"/>
                <a:sym typeface="Poppins Bold"/>
              </a:rPr>
              <a:t>Research Paper Comparison</a:t>
            </a:r>
          </a:p>
        </p:txBody>
      </p:sp>
      <p:sp>
        <p:nvSpPr>
          <p:cNvPr id="4" name="TextBox 4"/>
          <p:cNvSpPr txBox="1"/>
          <p:nvPr/>
        </p:nvSpPr>
        <p:spPr>
          <a:xfrm>
            <a:off x="762000" y="1919068"/>
            <a:ext cx="4193143" cy="448942"/>
          </a:xfrm>
          <a:prstGeom prst="rect">
            <a:avLst/>
          </a:prstGeom>
        </p:spPr>
        <p:txBody>
          <a:bodyPr lIns="0" tIns="0" rIns="0" bIns="0" rtlCol="0" anchor="t">
            <a:spAutoFit/>
          </a:bodyPr>
          <a:lstStyle/>
          <a:p>
            <a:pPr algn="ctr">
              <a:lnSpc>
                <a:spcPts val="3078"/>
              </a:lnSpc>
            </a:pPr>
            <a:r>
              <a:rPr lang="en-US" sz="2199">
                <a:solidFill>
                  <a:srgbClr val="000000"/>
                </a:solidFill>
                <a:latin typeface="Poppins"/>
                <a:ea typeface="Poppins"/>
                <a:cs typeface="Poppins"/>
                <a:sym typeface="Poppins"/>
              </a:rPr>
              <a:t>DRL papers: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674737"/>
          <a:ext cx="16205200" cy="8915401"/>
        </p:xfrm>
        <a:graphic>
          <a:graphicData uri="http://schemas.openxmlformats.org/drawingml/2006/table">
            <a:tbl>
              <a:tblPr/>
              <a:tblGrid>
                <a:gridCol w="4051300">
                  <a:extLst>
                    <a:ext uri="{9D8B030D-6E8A-4147-A177-3AD203B41FA5}">
                      <a16:colId xmlns:a16="http://schemas.microsoft.com/office/drawing/2014/main" val="20000"/>
                    </a:ext>
                  </a:extLst>
                </a:gridCol>
                <a:gridCol w="4051300">
                  <a:extLst>
                    <a:ext uri="{9D8B030D-6E8A-4147-A177-3AD203B41FA5}">
                      <a16:colId xmlns:a16="http://schemas.microsoft.com/office/drawing/2014/main" val="20001"/>
                    </a:ext>
                  </a:extLst>
                </a:gridCol>
                <a:gridCol w="4051300">
                  <a:extLst>
                    <a:ext uri="{9D8B030D-6E8A-4147-A177-3AD203B41FA5}">
                      <a16:colId xmlns:a16="http://schemas.microsoft.com/office/drawing/2014/main" val="20002"/>
                    </a:ext>
                  </a:extLst>
                </a:gridCol>
                <a:gridCol w="4051300">
                  <a:extLst>
                    <a:ext uri="{9D8B030D-6E8A-4147-A177-3AD203B41FA5}">
                      <a16:colId xmlns:a16="http://schemas.microsoft.com/office/drawing/2014/main" val="20003"/>
                    </a:ext>
                  </a:extLst>
                </a:gridCol>
              </a:tblGrid>
              <a:tr h="3392662">
                <a:tc>
                  <a:txBody>
                    <a:bodyPr/>
                    <a:lstStyle/>
                    <a:p>
                      <a:pPr algn="ctr">
                        <a:lnSpc>
                          <a:spcPts val="1819"/>
                        </a:lnSpc>
                        <a:defRPr/>
                      </a:pPr>
                      <a:r>
                        <a:rPr lang="en-US" sz="1800" b="1">
                          <a:solidFill>
                            <a:srgbClr val="000000"/>
                          </a:solidFill>
                          <a:latin typeface="Canva Sans Bold"/>
                          <a:ea typeface="Canva Sans Bold"/>
                          <a:cs typeface="Canva Sans Bold"/>
                          <a:sym typeface="Canva Sans Bold"/>
                        </a:rPr>
                        <a:t>Limitations / Research Gaps </a:t>
                      </a:r>
                      <a:r>
                        <a:rPr lang="en-US" sz="1800">
                          <a:solidFill>
                            <a:srgbClr val="000000"/>
                          </a:solidFill>
                          <a:latin typeface="Canva Sans"/>
                          <a:ea typeface="Canva Sans"/>
                          <a:cs typeface="Canva Sans"/>
                          <a:sym typeface="Canva Sans"/>
                        </a:rPr>
                        <a:t> </a:t>
                      </a:r>
                      <a:endParaRPr lang="en-US" sz="1100"/>
                    </a:p>
                    <a:p>
                      <a:pPr algn="ctr">
                        <a:lnSpc>
                          <a:spcPts val="1819"/>
                        </a:lnSpc>
                      </a:pPr>
                      <a:r>
                        <a:rPr lang="en-US" sz="1800">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Relies on high-quality real-time data; not fully tested under extreme events or sensor failures; computational demands may be high. </a:t>
                      </a:r>
                      <a:endParaRPr lang="en-US" sz="1100"/>
                    </a:p>
                    <a:p>
                      <a:pPr algn="ctr">
                        <a:lnSpc>
                          <a:spcPts val="1818"/>
                        </a:lnSpc>
                      </a:pPr>
                      <a:r>
                        <a:rPr lang="en-US" sz="1399">
                          <a:solidFill>
                            <a:srgbClr val="000000"/>
                          </a:solidFill>
                          <a:latin typeface="Canva Sans"/>
                          <a:ea typeface="Canva Sans"/>
                          <a:cs typeface="Canva Sans"/>
                          <a:sym typeface="Canva Sans"/>
                        </a:rPr>
                        <a:t>current implementation does not fully account for emerging mobility services like ride-sharing and autonomous vehicles.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The study is limited to a single intersection scenario. </a:t>
                      </a:r>
                      <a:endParaRPr lang="en-US" sz="1100"/>
                    </a:p>
                    <a:p>
                      <a:pPr algn="ctr">
                        <a:lnSpc>
                          <a:spcPts val="1818"/>
                        </a:lnSpc>
                      </a:pPr>
                      <a:r>
                        <a:rPr lang="en-US" sz="1399">
                          <a:solidFill>
                            <a:srgbClr val="000000"/>
                          </a:solidFill>
                          <a:latin typeface="Canva Sans"/>
                          <a:ea typeface="Canva Sans"/>
                          <a:cs typeface="Canva Sans"/>
                          <a:sym typeface="Canva Sans"/>
                        </a:rPr>
                        <a:t>No real-world deployment. </a:t>
                      </a:r>
                    </a:p>
                    <a:p>
                      <a:pPr algn="ctr">
                        <a:lnSpc>
                          <a:spcPts val="1818"/>
                        </a:lnSpc>
                      </a:pPr>
                      <a:r>
                        <a:rPr lang="en-US" sz="1399">
                          <a:solidFill>
                            <a:srgbClr val="000000"/>
                          </a:solidFill>
                          <a:latin typeface="Canva Sans"/>
                          <a:ea typeface="Canva Sans"/>
                          <a:cs typeface="Canva Sans"/>
                          <a:sym typeface="Canva Sans"/>
                        </a:rPr>
                        <a:t>The framework does not extend to multi-agent or network-level signal coordination. </a:t>
                      </a:r>
                    </a:p>
                    <a:p>
                      <a:pPr algn="ctr">
                        <a:lnSpc>
                          <a:spcPts val="1818"/>
                        </a:lnSpc>
                      </a:pPr>
                      <a:r>
                        <a:rPr lang="en-US" sz="1399">
                          <a:solidFill>
                            <a:srgbClr val="000000"/>
                          </a:solidFill>
                          <a:latin typeface="Canva Sans"/>
                          <a:ea typeface="Canva Sans"/>
                          <a:cs typeface="Canva Sans"/>
                          <a:sym typeface="Canva Sans"/>
                        </a:rPr>
                        <a:t>More real-world traffic data is suggested for future validation. </a:t>
                      </a:r>
                    </a:p>
                    <a:p>
                      <a:pPr algn="ctr">
                        <a:lnSpc>
                          <a:spcPts val="1818"/>
                        </a:lnSpc>
                      </a:pPr>
                      <a:r>
                        <a:rPr lang="en-US" sz="1399">
                          <a:solidFill>
                            <a:srgbClr val="000000"/>
                          </a:solidFill>
                          <a:latin typeface="Canva Sans"/>
                          <a:ea typeface="Canva Sans"/>
                          <a:cs typeface="Canva Sans"/>
                          <a:sym typeface="Canva Sans"/>
                        </a:rPr>
                        <a:t>The cold-start problem remains unresolved during early training.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1-vehicle queue propagation upstream when signals are </a:t>
                      </a:r>
                      <a:endParaRPr lang="en-US" sz="1100"/>
                    </a:p>
                    <a:p>
                      <a:pPr algn="ctr">
                        <a:lnSpc>
                          <a:spcPts val="1818"/>
                        </a:lnSpc>
                      </a:pPr>
                      <a:r>
                        <a:rPr lang="en-US" sz="1399">
                          <a:solidFill>
                            <a:srgbClr val="000000"/>
                          </a:solidFill>
                          <a:latin typeface="Canva Sans"/>
                          <a:ea typeface="Canva Sans"/>
                          <a:cs typeface="Canva Sans"/>
                          <a:sym typeface="Canva Sans"/>
                        </a:rPr>
                        <a:t>closely spaced </a:t>
                      </a:r>
                    </a:p>
                    <a:p>
                      <a:pPr algn="ctr">
                        <a:lnSpc>
                          <a:spcPts val="1818"/>
                        </a:lnSpc>
                      </a:pPr>
                      <a:r>
                        <a:rPr lang="en-US" sz="1399">
                          <a:solidFill>
                            <a:srgbClr val="000000"/>
                          </a:solidFill>
                          <a:latin typeface="Canva Sans"/>
                          <a:ea typeface="Canva Sans"/>
                          <a:cs typeface="Canva Sans"/>
                          <a:sym typeface="Canva Sans"/>
                        </a:rPr>
                        <a:t>2- high switching frequency, increase vehicle energy consumption </a:t>
                      </a:r>
                    </a:p>
                    <a:p>
                      <a:pPr algn="ctr">
                        <a:lnSpc>
                          <a:spcPts val="1818"/>
                        </a:lnSpc>
                      </a:pPr>
                      <a:r>
                        <a:rPr lang="en-US" sz="1399">
                          <a:solidFill>
                            <a:srgbClr val="000000"/>
                          </a:solidFill>
                          <a:latin typeface="Canva Sans"/>
                          <a:ea typeface="Canva Sans"/>
                          <a:cs typeface="Canva Sans"/>
                          <a:sym typeface="Canva Sans"/>
                        </a:rPr>
                        <a:t>3- evaluation was limited to a university campus setting </a:t>
                      </a:r>
                    </a:p>
                    <a:p>
                      <a:pPr algn="ctr">
                        <a:lnSpc>
                          <a:spcPts val="1818"/>
                        </a:lnSpc>
                      </a:pPr>
                      <a:r>
                        <a:rPr lang="en-US" sz="1399">
                          <a:solidFill>
                            <a:srgbClr val="000000"/>
                          </a:solidFill>
                          <a:latin typeface="Canva Sans"/>
                          <a:ea typeface="Canva Sans"/>
                          <a:cs typeface="Canva Sans"/>
                          <a:sym typeface="Canva Sans"/>
                        </a:rPr>
                        <a:t>4- baselines include common real-world approaches </a:t>
                      </a:r>
                    </a:p>
                    <a:p>
                      <a:pPr algn="ctr">
                        <a:lnSpc>
                          <a:spcPts val="1818"/>
                        </a:lnSpc>
                      </a:pPr>
                      <a:r>
                        <a:rPr lang="en-US" sz="1399">
                          <a:solidFill>
                            <a:srgbClr val="000000"/>
                          </a:solidFill>
                          <a:latin typeface="Canva Sans"/>
                          <a:ea typeface="Canva Sans"/>
                          <a:cs typeface="Canva Sans"/>
                          <a:sym typeface="Canva Sans"/>
                        </a:rPr>
                        <a:t>direct comparison with </a:t>
                      </a:r>
                    </a:p>
                    <a:p>
                      <a:pPr algn="ctr">
                        <a:lnSpc>
                          <a:spcPts val="1818"/>
                        </a:lnSpc>
                      </a:pPr>
                      <a:r>
                        <a:rPr lang="en-US" sz="1399">
                          <a:solidFill>
                            <a:srgbClr val="000000"/>
                          </a:solidFill>
                          <a:latin typeface="Canva Sans"/>
                          <a:ea typeface="Canva Sans"/>
                          <a:cs typeface="Canva Sans"/>
                          <a:sym typeface="Canva Sans"/>
                        </a:rPr>
                        <a:t>other RL-based controllers proved challenging, No mixed-traffic (AV + human) modeling.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67597">
                <a:tc>
                  <a:txBody>
                    <a:bodyPr/>
                    <a:lstStyle/>
                    <a:p>
                      <a:pPr algn="ctr">
                        <a:lnSpc>
                          <a:spcPts val="1819"/>
                        </a:lnSpc>
                        <a:defRPr/>
                      </a:pPr>
                      <a:r>
                        <a:rPr lang="en-US" sz="1800" b="1">
                          <a:solidFill>
                            <a:srgbClr val="000000"/>
                          </a:solidFill>
                          <a:latin typeface="Canva Sans Bold"/>
                          <a:ea typeface="Canva Sans Bold"/>
                          <a:cs typeface="Canva Sans Bold"/>
                          <a:sym typeface="Canva Sans Bold"/>
                        </a:rPr>
                        <a:t>state representation</a:t>
                      </a:r>
                      <a:r>
                        <a:rPr lang="en-US" sz="18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The state represents the </a:t>
                      </a:r>
                      <a:endParaRPr lang="en-US" sz="1100"/>
                    </a:p>
                    <a:p>
                      <a:pPr algn="ctr">
                        <a:lnSpc>
                          <a:spcPts val="1818"/>
                        </a:lnSpc>
                      </a:pPr>
                      <a:r>
                        <a:rPr lang="en-US" sz="1399">
                          <a:solidFill>
                            <a:srgbClr val="000000"/>
                          </a:solidFill>
                          <a:latin typeface="Canva Sans"/>
                          <a:ea typeface="Canva Sans"/>
                          <a:cs typeface="Canva Sans"/>
                          <a:sym typeface="Canva Sans"/>
                        </a:rPr>
                        <a:t>current traffic conditions across the network.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The state is encoded using discrete </a:t>
                      </a:r>
                      <a:r>
                        <a:rPr lang="en-US" sz="1399" b="1">
                          <a:solidFill>
                            <a:srgbClr val="000000"/>
                          </a:solidFill>
                          <a:latin typeface="Canva Sans Bold"/>
                          <a:ea typeface="Canva Sans Bold"/>
                          <a:cs typeface="Canva Sans Bold"/>
                          <a:sym typeface="Canva Sans Bold"/>
                        </a:rPr>
                        <a:t>matrix</a:t>
                      </a:r>
                      <a:r>
                        <a:rPr lang="en-US" sz="1399">
                          <a:solidFill>
                            <a:srgbClr val="000000"/>
                          </a:solidFill>
                          <a:latin typeface="Canva Sans"/>
                          <a:ea typeface="Canva Sans"/>
                          <a:cs typeface="Canva Sans"/>
                          <a:sym typeface="Canva Sans"/>
                        </a:rPr>
                        <a:t> representations of vehicle positions and velocities, along with the current signal phase. Each lane is divided into grids to capture spatial vehicle distribution, forming position and velocity matrices that represent real-time traffic conditions at the intersection.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b="1">
                          <a:solidFill>
                            <a:srgbClr val="000000"/>
                          </a:solidFill>
                          <a:latin typeface="Canva Sans Bold"/>
                          <a:ea typeface="Canva Sans Bold"/>
                          <a:cs typeface="Canva Sans Bold"/>
                          <a:sym typeface="Canva Sans Bold"/>
                        </a:rPr>
                        <a:t>Spatio-temporal</a:t>
                      </a:r>
                      <a:r>
                        <a:rPr lang="en-US" sz="1399">
                          <a:solidFill>
                            <a:srgbClr val="000000"/>
                          </a:solidFill>
                          <a:latin typeface="Canva Sans"/>
                          <a:ea typeface="Canva Sans"/>
                          <a:cs typeface="Canva Sans"/>
                          <a:sym typeface="Canva Sans"/>
                        </a:rPr>
                        <a:t> stacked occupancy representation. previous phase (N=10 steps)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22584">
                <a:tc>
                  <a:txBody>
                    <a:bodyPr/>
                    <a:lstStyle/>
                    <a:p>
                      <a:pPr algn="ctr">
                        <a:lnSpc>
                          <a:spcPts val="1819"/>
                        </a:lnSpc>
                        <a:defRPr/>
                      </a:pPr>
                      <a:r>
                        <a:rPr lang="en-US" sz="1800" b="1">
                          <a:solidFill>
                            <a:srgbClr val="000000"/>
                          </a:solidFill>
                          <a:latin typeface="Canva Sans Bold"/>
                          <a:ea typeface="Canva Sans Bold"/>
                          <a:cs typeface="Canva Sans Bold"/>
                          <a:sym typeface="Canva Sans Bold"/>
                        </a:rPr>
                        <a:t>action selection</a:t>
                      </a:r>
                      <a:r>
                        <a:rPr lang="en-US" sz="18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Actions are selected by the PPO policy network, which generates a </a:t>
                      </a:r>
                      <a:r>
                        <a:rPr lang="en-US" sz="1399" b="1">
                          <a:solidFill>
                            <a:srgbClr val="000000"/>
                          </a:solidFill>
                          <a:latin typeface="Canva Sans Bold"/>
                          <a:ea typeface="Canva Sans Bold"/>
                          <a:cs typeface="Canva Sans Bold"/>
                          <a:sym typeface="Canva Sans Bold"/>
                        </a:rPr>
                        <a:t>vector</a:t>
                      </a:r>
                      <a:r>
                        <a:rPr lang="en-US" sz="1399">
                          <a:solidFill>
                            <a:srgbClr val="000000"/>
                          </a:solidFill>
                          <a:latin typeface="Canva Sans"/>
                          <a:ea typeface="Canva Sans"/>
                          <a:cs typeface="Canva Sans"/>
                          <a:sym typeface="Canva Sans"/>
                        </a:rPr>
                        <a:t> of control decisions, including signal timing adjustments, recommended route changes, and demand management strategies.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The agent selects the green light duration for the current signal phase based on the maximum </a:t>
                      </a:r>
                      <a:r>
                        <a:rPr lang="en-US" sz="1399" b="1">
                          <a:solidFill>
                            <a:srgbClr val="000000"/>
                          </a:solidFill>
                          <a:latin typeface="Canva Sans Bold"/>
                          <a:ea typeface="Canva Sans Bold"/>
                          <a:cs typeface="Canva Sans Bold"/>
                          <a:sym typeface="Canva Sans Bold"/>
                        </a:rPr>
                        <a:t>Q-value</a:t>
                      </a:r>
                      <a:r>
                        <a:rPr lang="en-US" sz="1399">
                          <a:solidFill>
                            <a:srgbClr val="000000"/>
                          </a:solidFill>
                          <a:latin typeface="Canva Sans"/>
                          <a:ea typeface="Canva Sans"/>
                          <a:cs typeface="Canva Sans"/>
                          <a:sym typeface="Canva Sans"/>
                        </a:rPr>
                        <a:t> output from the neural network. Action selection follows a phase-cycled structure.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two components: </a:t>
                      </a:r>
                      <a:endParaRPr lang="en-US" sz="1100"/>
                    </a:p>
                    <a:p>
                      <a:pPr algn="ctr">
                        <a:lnSpc>
                          <a:spcPts val="1818"/>
                        </a:lnSpc>
                      </a:pPr>
                      <a:r>
                        <a:rPr lang="en-US" sz="1399">
                          <a:solidFill>
                            <a:srgbClr val="000000"/>
                          </a:solidFill>
                          <a:latin typeface="Canva Sans"/>
                          <a:ea typeface="Canva Sans"/>
                          <a:cs typeface="Canva Sans"/>
                          <a:sym typeface="Canva Sans"/>
                        </a:rPr>
                        <a:t>Intersection Action: Four predefined phase configurations, selection is drawn from </a:t>
                      </a:r>
                    </a:p>
                    <a:p>
                      <a:pPr algn="ctr">
                        <a:lnSpc>
                          <a:spcPts val="1818"/>
                        </a:lnSpc>
                      </a:pPr>
                      <a:r>
                        <a:rPr lang="en-US" sz="1399">
                          <a:solidFill>
                            <a:srgbClr val="000000"/>
                          </a:solidFill>
                          <a:latin typeface="Canva Sans"/>
                          <a:ea typeface="Canva Sans"/>
                          <a:cs typeface="Canva Sans"/>
                          <a:sym typeface="Canva Sans"/>
                        </a:rPr>
                        <a:t>a Categorical distribution; </a:t>
                      </a:r>
                    </a:p>
                    <a:p>
                      <a:pPr algn="ctr">
                        <a:lnSpc>
                          <a:spcPts val="1818"/>
                        </a:lnSpc>
                      </a:pPr>
                      <a:r>
                        <a:rPr lang="en-US" sz="1399">
                          <a:solidFill>
                            <a:srgbClr val="000000"/>
                          </a:solidFill>
                          <a:latin typeface="Canva Sans"/>
                          <a:ea typeface="Canva Sans"/>
                          <a:cs typeface="Canva Sans"/>
                          <a:sym typeface="Canva Sans"/>
                        </a:rPr>
                        <a:t>Mid-block Actions: For each of 7 signals, selects a binary action </a:t>
                      </a:r>
                    </a:p>
                    <a:p>
                      <a:pPr algn="ctr">
                        <a:lnSpc>
                          <a:spcPts val="1818"/>
                        </a:lnSpc>
                      </a:pPr>
                      <a:r>
                        <a:rPr lang="en-US" sz="1399">
                          <a:solidFill>
                            <a:srgbClr val="000000"/>
                          </a:solidFill>
                          <a:latin typeface="Canva Sans"/>
                          <a:ea typeface="Canva Sans"/>
                          <a:cs typeface="Canva Sans"/>
                          <a:sym typeface="Canva Sans"/>
                        </a:rPr>
                        <a:t>each modeled as a Bernoulli distribution.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32558">
                <a:tc>
                  <a:txBody>
                    <a:bodyPr/>
                    <a:lstStyle/>
                    <a:p>
                      <a:pPr algn="ctr">
                        <a:lnSpc>
                          <a:spcPts val="1819"/>
                        </a:lnSpc>
                        <a:defRPr/>
                      </a:pPr>
                      <a:r>
                        <a:rPr lang="en-US" sz="1800" b="1">
                          <a:solidFill>
                            <a:srgbClr val="000000"/>
                          </a:solidFill>
                          <a:latin typeface="Canva Sans Bold"/>
                          <a:ea typeface="Canva Sans Bold"/>
                          <a:cs typeface="Canva Sans Bold"/>
                          <a:sym typeface="Canva Sans Bold"/>
                        </a:rPr>
                        <a:t>Action Scope</a:t>
                      </a:r>
                      <a:r>
                        <a:rPr lang="en-US" sz="18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b="1">
                          <a:solidFill>
                            <a:srgbClr val="000000"/>
                          </a:solidFill>
                          <a:latin typeface="Canva Sans Bold"/>
                          <a:ea typeface="Canva Sans Bold"/>
                          <a:cs typeface="Canva Sans Bold"/>
                          <a:sym typeface="Canva Sans Bold"/>
                        </a:rPr>
                        <a:t>Network-wide</a:t>
                      </a:r>
                      <a:r>
                        <a:rPr lang="en-US" sz="1399">
                          <a:solidFill>
                            <a:srgbClr val="000000"/>
                          </a:solidFill>
                          <a:latin typeface="Canva Sans"/>
                          <a:ea typeface="Canva Sans"/>
                          <a:cs typeface="Canva Sans"/>
                          <a:sym typeface="Canva Sans"/>
                        </a:rPr>
                        <a:t> control decisions including signal timing adjustments, route guidance recommendations, and demand management strategies designed to redistribute traffic demand and mitigate congestion.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a:solidFill>
                            <a:srgbClr val="000000"/>
                          </a:solidFill>
                          <a:latin typeface="Canva Sans"/>
                          <a:ea typeface="Canva Sans"/>
                          <a:cs typeface="Canva Sans"/>
                          <a:sym typeface="Canva Sans"/>
                        </a:rPr>
                        <a:t>The model adjusts only the green light duration of the current phase within a fixed cyclic phase sequence. The action set consists of predefined green durations. </a:t>
                      </a:r>
                      <a:endParaRPr lang="en-US" sz="1100"/>
                    </a:p>
                    <a:p>
                      <a:pPr algn="ctr">
                        <a:lnSpc>
                          <a:spcPts val="1818"/>
                        </a:lnSpc>
                      </a:pPr>
                      <a:r>
                        <a:rPr lang="en-US" sz="1399">
                          <a:solidFill>
                            <a:srgbClr val="000000"/>
                          </a:solidFill>
                          <a:latin typeface="Canva Sans"/>
                          <a:ea typeface="Canva Sans"/>
                          <a:cs typeface="Canva Sans"/>
                          <a:sym typeface="Canva Sans"/>
                        </a:rPr>
                        <a:t>Single intersection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818"/>
                        </a:lnSpc>
                        <a:defRPr/>
                      </a:pPr>
                      <a:r>
                        <a:rPr lang="en-US" sz="1399" b="1">
                          <a:solidFill>
                            <a:srgbClr val="000000"/>
                          </a:solidFill>
                          <a:latin typeface="Canva Sans Bold"/>
                          <a:ea typeface="Canva Sans Bold"/>
                          <a:cs typeface="Canva Sans Bold"/>
                          <a:sym typeface="Canva Sans Bold"/>
                        </a:rPr>
                        <a:t>8 signals: </a:t>
                      </a:r>
                      <a:endParaRPr lang="en-US" sz="1100"/>
                    </a:p>
                    <a:p>
                      <a:pPr algn="ctr">
                        <a:lnSpc>
                          <a:spcPts val="1818"/>
                        </a:lnSpc>
                      </a:pPr>
                      <a:r>
                        <a:rPr lang="en-US" sz="1399">
                          <a:solidFill>
                            <a:srgbClr val="000000"/>
                          </a:solidFill>
                          <a:latin typeface="Canva Sans"/>
                          <a:ea typeface="Canva Sans"/>
                          <a:cs typeface="Canva Sans"/>
                          <a:sym typeface="Canva Sans"/>
                        </a:rPr>
                        <a:t>1 main intersection+ 7 mid-block signals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2199170" y="8910961"/>
            <a:ext cx="12344400" cy="328089"/>
          </a:xfrm>
          <a:prstGeom prst="rect">
            <a:avLst/>
          </a:prstGeom>
        </p:spPr>
        <p:txBody>
          <a:bodyPr lIns="0" tIns="0" rIns="0" bIns="0" rtlCol="0" anchor="t">
            <a:spAutoFit/>
          </a:bodyPr>
          <a:lstStyle/>
          <a:p>
            <a:pPr algn="l">
              <a:lnSpc>
                <a:spcPts val="2379"/>
              </a:lnSpc>
            </a:pPr>
            <a:r>
              <a:rPr lang="en-US" sz="1700" b="1" u="sng">
                <a:solidFill>
                  <a:srgbClr val="0000FF"/>
                </a:solidFill>
                <a:latin typeface="Arimo Bold"/>
                <a:ea typeface="Arimo Bold"/>
                <a:cs typeface="Arimo Bold"/>
                <a:sym typeface="Arimo Bold"/>
                <a:hlinkClick r:id="rId2" tooltip="https://1drv.ms/w/c/0d77e4f105f88a3b/IQBuJSzVrNyFTZA8z3ALJ7I8AfyqfPK9ESLQw68dut1-XU0?e=5YPKvE"/>
              </a:rPr>
              <a:t>https://1drv.ms/w/c/0d77e4f105f88a3b/IQBuJSzVrNyFTZA8z3ALJ7I8AfyqfPK9ESLQw68dut1-XU0?e=5YPKvE</a:t>
            </a:r>
          </a:p>
        </p:txBody>
      </p:sp>
      <p:graphicFrame>
        <p:nvGraphicFramePr>
          <p:cNvPr id="3" name="Table 3"/>
          <p:cNvGraphicFramePr>
            <a:graphicFrameLocks noGrp="1"/>
          </p:cNvGraphicFramePr>
          <p:nvPr/>
        </p:nvGraphicFramePr>
        <p:xfrm>
          <a:off x="1028700" y="1028700"/>
          <a:ext cx="16205200" cy="7753526"/>
        </p:xfrm>
        <a:graphic>
          <a:graphicData uri="http://schemas.openxmlformats.org/drawingml/2006/table">
            <a:tbl>
              <a:tblPr/>
              <a:tblGrid>
                <a:gridCol w="4051300">
                  <a:extLst>
                    <a:ext uri="{9D8B030D-6E8A-4147-A177-3AD203B41FA5}">
                      <a16:colId xmlns:a16="http://schemas.microsoft.com/office/drawing/2014/main" val="20000"/>
                    </a:ext>
                  </a:extLst>
                </a:gridCol>
                <a:gridCol w="4051300">
                  <a:extLst>
                    <a:ext uri="{9D8B030D-6E8A-4147-A177-3AD203B41FA5}">
                      <a16:colId xmlns:a16="http://schemas.microsoft.com/office/drawing/2014/main" val="20001"/>
                    </a:ext>
                  </a:extLst>
                </a:gridCol>
                <a:gridCol w="4051300">
                  <a:extLst>
                    <a:ext uri="{9D8B030D-6E8A-4147-A177-3AD203B41FA5}">
                      <a16:colId xmlns:a16="http://schemas.microsoft.com/office/drawing/2014/main" val="20002"/>
                    </a:ext>
                  </a:extLst>
                </a:gridCol>
                <a:gridCol w="4051300">
                  <a:extLst>
                    <a:ext uri="{9D8B030D-6E8A-4147-A177-3AD203B41FA5}">
                      <a16:colId xmlns:a16="http://schemas.microsoft.com/office/drawing/2014/main" val="20003"/>
                    </a:ext>
                  </a:extLst>
                </a:gridCol>
              </a:tblGrid>
              <a:tr h="1933403">
                <a:tc>
                  <a:txBody>
                    <a:bodyPr/>
                    <a:lstStyle/>
                    <a:p>
                      <a:pPr algn="ctr">
                        <a:lnSpc>
                          <a:spcPts val="1960"/>
                        </a:lnSpc>
                        <a:defRPr/>
                      </a:pPr>
                      <a:r>
                        <a:rPr lang="en-US" sz="1800" b="1">
                          <a:solidFill>
                            <a:srgbClr val="000000"/>
                          </a:solidFill>
                          <a:latin typeface="Canva Sans Bold"/>
                          <a:ea typeface="Canva Sans Bold"/>
                          <a:cs typeface="Canva Sans Bold"/>
                          <a:sym typeface="Canva Sans Bold"/>
                        </a:rPr>
                        <a:t>Agent Type</a:t>
                      </a:r>
                      <a:r>
                        <a:rPr lang="en-US" sz="18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Canva Sans"/>
                          <a:ea typeface="Canva Sans"/>
                          <a:cs typeface="Canva Sans"/>
                          <a:sym typeface="Canva Sans"/>
                        </a:rPr>
                        <a:t>Centralized </a:t>
                      </a:r>
                      <a:r>
                        <a:rPr lang="en-US" sz="1399" b="1">
                          <a:solidFill>
                            <a:srgbClr val="000000"/>
                          </a:solidFill>
                          <a:latin typeface="Canva Sans Bold"/>
                          <a:ea typeface="Canva Sans Bold"/>
                          <a:cs typeface="Canva Sans Bold"/>
                          <a:sym typeface="Canva Sans Bold"/>
                        </a:rPr>
                        <a:t>single-agent</a:t>
                      </a:r>
                      <a:r>
                        <a:rPr lang="en-US" sz="1399">
                          <a:solidFill>
                            <a:srgbClr val="000000"/>
                          </a:solidFill>
                          <a:latin typeface="Canva Sans"/>
                          <a:ea typeface="Canva Sans"/>
                          <a:cs typeface="Canva Sans"/>
                          <a:sym typeface="Canva Sans"/>
                        </a:rPr>
                        <a:t> reinforcement learning controller managing </a:t>
                      </a:r>
                      <a:r>
                        <a:rPr lang="en-US" sz="1399" b="1">
                          <a:solidFill>
                            <a:srgbClr val="000000"/>
                          </a:solidFill>
                          <a:latin typeface="Canva Sans Bold"/>
                          <a:ea typeface="Canva Sans Bold"/>
                          <a:cs typeface="Canva Sans Bold"/>
                          <a:sym typeface="Canva Sans Bold"/>
                        </a:rPr>
                        <a:t>network-wide</a:t>
                      </a:r>
                      <a:r>
                        <a:rPr lang="en-US" sz="1399">
                          <a:solidFill>
                            <a:srgbClr val="000000"/>
                          </a:solidFill>
                          <a:latin typeface="Canva Sans"/>
                          <a:ea typeface="Canva Sans"/>
                          <a:cs typeface="Canva Sans"/>
                          <a:sym typeface="Canva Sans"/>
                        </a:rPr>
                        <a:t> traffic operations.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b="1">
                          <a:solidFill>
                            <a:srgbClr val="000000"/>
                          </a:solidFill>
                          <a:latin typeface="Canva Sans Bold"/>
                          <a:ea typeface="Canva Sans Bold"/>
                          <a:cs typeface="Canva Sans Bold"/>
                          <a:sym typeface="Canva Sans Bold"/>
                        </a:rPr>
                        <a:t>Single-agent</a:t>
                      </a:r>
                      <a:r>
                        <a:rPr lang="en-US" sz="1399">
                          <a:solidFill>
                            <a:srgbClr val="000000"/>
                          </a:solidFill>
                          <a:latin typeface="Canva Sans"/>
                          <a:ea typeface="Canva Sans"/>
                          <a:cs typeface="Canva Sans"/>
                          <a:sym typeface="Canva Sans"/>
                        </a:rPr>
                        <a:t> reinforcement learning controller managing traffic signal timing at a </a:t>
                      </a:r>
                      <a:r>
                        <a:rPr lang="en-US" sz="1399" b="1">
                          <a:solidFill>
                            <a:srgbClr val="000000"/>
                          </a:solidFill>
                          <a:latin typeface="Canva Sans Bold"/>
                          <a:ea typeface="Canva Sans Bold"/>
                          <a:cs typeface="Canva Sans Bold"/>
                          <a:sym typeface="Canva Sans Bold"/>
                        </a:rPr>
                        <a:t>single</a:t>
                      </a:r>
                      <a:r>
                        <a:rPr lang="en-US" sz="1399">
                          <a:solidFill>
                            <a:srgbClr val="000000"/>
                          </a:solidFill>
                          <a:latin typeface="Canva Sans"/>
                          <a:ea typeface="Canva Sans"/>
                          <a:cs typeface="Canva Sans"/>
                          <a:sym typeface="Canva Sans"/>
                        </a:rPr>
                        <a:t> </a:t>
                      </a:r>
                      <a:r>
                        <a:rPr lang="en-US" sz="1399" b="1">
                          <a:solidFill>
                            <a:srgbClr val="000000"/>
                          </a:solidFill>
                          <a:latin typeface="Canva Sans Bold"/>
                          <a:ea typeface="Canva Sans Bold"/>
                          <a:cs typeface="Canva Sans Bold"/>
                          <a:sym typeface="Canva Sans Bold"/>
                        </a:rPr>
                        <a:t>intersection</a:t>
                      </a:r>
                      <a:r>
                        <a:rPr lang="en-US" sz="1399">
                          <a:solidFill>
                            <a:srgbClr val="000000"/>
                          </a:solidFill>
                          <a:latin typeface="Canva Sans"/>
                          <a:ea typeface="Canva Sans"/>
                          <a:cs typeface="Canva Sans"/>
                          <a:sym typeface="Canva Sans"/>
                        </a:rPr>
                        <a:t>, where one centralized agent observes the intersection traffic state and selects the optimal signal phase duration using a Deep Q-Network–based policy.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b="1">
                          <a:solidFill>
                            <a:srgbClr val="000000"/>
                          </a:solidFill>
                          <a:latin typeface="Canva Sans Bold"/>
                          <a:ea typeface="Canva Sans Bold"/>
                          <a:cs typeface="Canva Sans Bold"/>
                          <a:sym typeface="Canva Sans Bold"/>
                        </a:rPr>
                        <a:t>Single-agent</a:t>
                      </a:r>
                      <a:r>
                        <a:rPr lang="en-US" sz="1399">
                          <a:solidFill>
                            <a:srgbClr val="000000"/>
                          </a:solidFill>
                          <a:latin typeface="Canva Sans"/>
                          <a:ea typeface="Canva Sans"/>
                          <a:cs typeface="Canva Sans"/>
                          <a:sym typeface="Canva Sans"/>
                        </a:rPr>
                        <a:t> reinforcement learning controller optimizing traffic signal timing for both pedestrian crossings and vehicle movements along an urban </a:t>
                      </a:r>
                      <a:r>
                        <a:rPr lang="en-US" sz="1399" b="1">
                          <a:solidFill>
                            <a:srgbClr val="000000"/>
                          </a:solidFill>
                          <a:latin typeface="Canva Sans Bold"/>
                          <a:ea typeface="Canva Sans Bold"/>
                          <a:cs typeface="Canva Sans Bold"/>
                          <a:sym typeface="Canva Sans Bold"/>
                        </a:rPr>
                        <a:t>corridor</a:t>
                      </a:r>
                      <a:r>
                        <a:rPr lang="en-US" sz="1399">
                          <a:solidFill>
                            <a:srgbClr val="000000"/>
                          </a:solidFill>
                          <a:latin typeface="Canva Sans"/>
                          <a:ea typeface="Canva Sans"/>
                          <a:cs typeface="Canva Sans"/>
                          <a:sym typeface="Canva Sans"/>
                        </a:rPr>
                        <a:t>, where a centralized agent makes phase control decisions based on combined pedestrian and vehicle traffic states.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52543">
                <a:tc>
                  <a:txBody>
                    <a:bodyPr/>
                    <a:lstStyle/>
                    <a:p>
                      <a:pPr algn="ctr">
                        <a:lnSpc>
                          <a:spcPts val="1960"/>
                        </a:lnSpc>
                        <a:defRPr/>
                      </a:pPr>
                      <a:r>
                        <a:rPr lang="en-US" sz="1800" b="1">
                          <a:solidFill>
                            <a:srgbClr val="000000"/>
                          </a:solidFill>
                          <a:latin typeface="Canva Sans Bold"/>
                          <a:ea typeface="Canva Sans Bold"/>
                          <a:cs typeface="Canva Sans Bold"/>
                          <a:sym typeface="Canva Sans Bold"/>
                        </a:rPr>
                        <a:t>reward design</a:t>
                      </a:r>
                      <a:r>
                        <a:rPr lang="en-US" sz="18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b="1">
                          <a:solidFill>
                            <a:srgbClr val="000000"/>
                          </a:solidFill>
                          <a:latin typeface="Canva Sans Bold"/>
                          <a:ea typeface="Canva Sans Bold"/>
                          <a:cs typeface="Canva Sans Bold"/>
                          <a:sym typeface="Canva Sans Bold"/>
                        </a:rPr>
                        <a:t>Multi-objective</a:t>
                      </a:r>
                      <a:r>
                        <a:rPr lang="en-US" sz="1399">
                          <a:solidFill>
                            <a:srgbClr val="000000"/>
                          </a:solidFill>
                          <a:latin typeface="Canva Sans"/>
                          <a:ea typeface="Canva Sans"/>
                          <a:cs typeface="Canva Sans"/>
                          <a:sym typeface="Canva Sans"/>
                        </a:rPr>
                        <a:t> (travel time, emissions, fairness, stability)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Canva Sans"/>
                          <a:ea typeface="Canva Sans"/>
                          <a:cs typeface="Canva Sans"/>
                          <a:sym typeface="Canva Sans"/>
                        </a:rPr>
                        <a:t>difference in total queue length between consecutive action time step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Canva Sans"/>
                          <a:ea typeface="Canva Sans"/>
                          <a:cs typeface="Canva Sans"/>
                          <a:sym typeface="Canva Sans"/>
                        </a:rPr>
                        <a:t>Exponentially Increasing Maximum Wait Aggregated Queue (</a:t>
                      </a:r>
                      <a:r>
                        <a:rPr lang="en-US" sz="1399" b="1">
                          <a:solidFill>
                            <a:srgbClr val="000000"/>
                          </a:solidFill>
                          <a:latin typeface="Canva Sans Bold"/>
                          <a:ea typeface="Canva Sans Bold"/>
                          <a:cs typeface="Canva Sans Bold"/>
                          <a:sym typeface="Canva Sans Bold"/>
                        </a:rPr>
                        <a:t>EI-MWAQ</a:t>
                      </a:r>
                      <a:r>
                        <a:rPr lang="en-US" sz="1399">
                          <a:solidFill>
                            <a:srgbClr val="000000"/>
                          </a:solidFill>
                          <a:latin typeface="Canva Sans"/>
                          <a:ea typeface="Canva Sans"/>
                          <a:cs typeface="Canva Sans"/>
                          <a:sym typeface="Canva Sans"/>
                        </a:rPr>
                        <a:t>); L2 aggregation + exponential penalty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9048">
                <a:tc>
                  <a:txBody>
                    <a:bodyPr/>
                    <a:lstStyle/>
                    <a:p>
                      <a:pPr algn="ctr">
                        <a:lnSpc>
                          <a:spcPts val="1960"/>
                        </a:lnSpc>
                        <a:defRPr/>
                      </a:pPr>
                      <a:r>
                        <a:rPr lang="en-US" sz="1800" b="1">
                          <a:solidFill>
                            <a:srgbClr val="000000"/>
                          </a:solidFill>
                          <a:latin typeface="Canva Sans Bold"/>
                          <a:ea typeface="Canva Sans Bold"/>
                          <a:cs typeface="Canva Sans Bold"/>
                          <a:sym typeface="Canva Sans Bold"/>
                        </a:rPr>
                        <a:t>DRL Structure</a:t>
                      </a:r>
                      <a:r>
                        <a:rPr lang="en-US" sz="1800">
                          <a:solidFill>
                            <a:srgbClr val="000000"/>
                          </a:solidFill>
                          <a:latin typeface="Canva Sans"/>
                          <a:ea typeface="Canva Sans"/>
                          <a:cs typeface="Canva Sans"/>
                          <a:sym typeface="Canva Sans"/>
                        </a:rPr>
                        <a:t>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Canva Sans"/>
                          <a:ea typeface="Canva Sans"/>
                          <a:cs typeface="Canva Sans"/>
                          <a:sym typeface="Canva Sans"/>
                        </a:rPr>
                        <a:t>The decision optimization module follows an </a:t>
                      </a:r>
                      <a:r>
                        <a:rPr lang="en-US" sz="1399" b="1">
                          <a:solidFill>
                            <a:srgbClr val="000000"/>
                          </a:solidFill>
                          <a:latin typeface="Canva Sans Bold"/>
                          <a:ea typeface="Canva Sans Bold"/>
                          <a:cs typeface="Canva Sans Bold"/>
                          <a:sym typeface="Canva Sans Bold"/>
                        </a:rPr>
                        <a:t>Actor–Critic architecture using the PPO algorithm</a:t>
                      </a:r>
                      <a:r>
                        <a:rPr lang="en-US" sz="1399">
                          <a:solidFill>
                            <a:srgbClr val="000000"/>
                          </a:solidFill>
                          <a:latin typeface="Canva Sans"/>
                          <a:ea typeface="Canva Sans"/>
                          <a:cs typeface="Canva Sans"/>
                          <a:sym typeface="Canva Sans"/>
                        </a:rPr>
                        <a:t>, where a </a:t>
                      </a:r>
                      <a:r>
                        <a:rPr lang="en-US" sz="1399" b="1">
                          <a:solidFill>
                            <a:srgbClr val="000000"/>
                          </a:solidFill>
                          <a:latin typeface="Canva Sans Bold"/>
                          <a:ea typeface="Canva Sans Bold"/>
                          <a:cs typeface="Canva Sans Bold"/>
                          <a:sym typeface="Canva Sans Bold"/>
                        </a:rPr>
                        <a:t>policy network </a:t>
                      </a:r>
                      <a:r>
                        <a:rPr lang="en-US" sz="1399">
                          <a:solidFill>
                            <a:srgbClr val="000000"/>
                          </a:solidFill>
                          <a:latin typeface="Canva Sans"/>
                          <a:ea typeface="Canva Sans"/>
                          <a:cs typeface="Canva Sans"/>
                          <a:sym typeface="Canva Sans"/>
                        </a:rPr>
                        <a:t>generates traffic control actions, and a </a:t>
                      </a:r>
                      <a:r>
                        <a:rPr lang="en-US" sz="1399" b="1">
                          <a:solidFill>
                            <a:srgbClr val="000000"/>
                          </a:solidFill>
                          <a:latin typeface="Canva Sans Bold"/>
                          <a:ea typeface="Canva Sans Bold"/>
                          <a:cs typeface="Canva Sans Bold"/>
                          <a:sym typeface="Canva Sans Bold"/>
                        </a:rPr>
                        <a:t>value network </a:t>
                      </a:r>
                      <a:r>
                        <a:rPr lang="en-US" sz="1399">
                          <a:solidFill>
                            <a:srgbClr val="000000"/>
                          </a:solidFill>
                          <a:latin typeface="Canva Sans"/>
                          <a:ea typeface="Canva Sans"/>
                          <a:cs typeface="Canva Sans"/>
                          <a:sym typeface="Canva Sans"/>
                        </a:rPr>
                        <a:t>estimates the value of network traffic states. The framework operates on </a:t>
                      </a:r>
                      <a:r>
                        <a:rPr lang="en-US" sz="1399" b="1">
                          <a:solidFill>
                            <a:srgbClr val="000000"/>
                          </a:solidFill>
                          <a:latin typeface="Canva Sans Bold"/>
                          <a:ea typeface="Canva Sans Bold"/>
                          <a:cs typeface="Canva Sans Bold"/>
                          <a:sym typeface="Canva Sans Bold"/>
                        </a:rPr>
                        <a:t>graph-structured</a:t>
                      </a:r>
                      <a:r>
                        <a:rPr lang="en-US" sz="1399">
                          <a:solidFill>
                            <a:srgbClr val="000000"/>
                          </a:solidFill>
                          <a:latin typeface="Canva Sans"/>
                          <a:ea typeface="Canva Sans"/>
                          <a:cs typeface="Canva Sans"/>
                          <a:sym typeface="Canva Sans"/>
                        </a:rPr>
                        <a:t> traffic data and integrates predictive traffic features generated by the </a:t>
                      </a:r>
                      <a:r>
                        <a:rPr lang="en-US" sz="1399" b="1">
                          <a:solidFill>
                            <a:srgbClr val="000000"/>
                          </a:solidFill>
                          <a:latin typeface="Canva Sans Bold"/>
                          <a:ea typeface="Canva Sans Bold"/>
                          <a:cs typeface="Canva Sans Bold"/>
                          <a:sym typeface="Canva Sans Bold"/>
                        </a:rPr>
                        <a:t>GCRNN</a:t>
                      </a:r>
                      <a:r>
                        <a:rPr lang="en-US" sz="1399">
                          <a:solidFill>
                            <a:srgbClr val="000000"/>
                          </a:solidFill>
                          <a:latin typeface="Canva Sans"/>
                          <a:ea typeface="Canva Sans"/>
                          <a:cs typeface="Canva Sans"/>
                          <a:sym typeface="Canva Sans"/>
                        </a:rPr>
                        <a:t> model.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Canva Sans"/>
                          <a:ea typeface="Canva Sans"/>
                          <a:cs typeface="Canva Sans"/>
                          <a:sym typeface="Canva Sans"/>
                        </a:rPr>
                        <a:t>The framework is based on an </a:t>
                      </a:r>
                      <a:r>
                        <a:rPr lang="en-US" sz="1399" b="1">
                          <a:solidFill>
                            <a:srgbClr val="000000"/>
                          </a:solidFill>
                          <a:latin typeface="Canva Sans Bold"/>
                          <a:ea typeface="Canva Sans Bold"/>
                          <a:cs typeface="Canva Sans Bold"/>
                          <a:sym typeface="Canva Sans Bold"/>
                        </a:rPr>
                        <a:t>enhanced</a:t>
                      </a:r>
                      <a:r>
                        <a:rPr lang="en-US" sz="1399">
                          <a:solidFill>
                            <a:srgbClr val="000000"/>
                          </a:solidFill>
                          <a:latin typeface="Canva Sans"/>
                          <a:ea typeface="Canva Sans"/>
                          <a:cs typeface="Canva Sans"/>
                          <a:sym typeface="Canva Sans"/>
                        </a:rPr>
                        <a:t> </a:t>
                      </a:r>
                      <a:r>
                        <a:rPr lang="en-US" sz="1399" b="1">
                          <a:solidFill>
                            <a:srgbClr val="000000"/>
                          </a:solidFill>
                          <a:latin typeface="Canva Sans Bold"/>
                          <a:ea typeface="Canva Sans Bold"/>
                          <a:cs typeface="Canva Sans Bold"/>
                          <a:sym typeface="Canva Sans Bold"/>
                        </a:rPr>
                        <a:t>DQN</a:t>
                      </a:r>
                      <a:r>
                        <a:rPr lang="en-US" sz="1399">
                          <a:solidFill>
                            <a:srgbClr val="000000"/>
                          </a:solidFill>
                          <a:latin typeface="Canva Sans"/>
                          <a:ea typeface="Canva Sans"/>
                          <a:cs typeface="Canva Sans"/>
                          <a:sym typeface="Canva Sans"/>
                        </a:rPr>
                        <a:t> architecture combining convolutional layers for traffic feature extraction and fully connected layers for Q-value estimation. It adopts </a:t>
                      </a:r>
                      <a:r>
                        <a:rPr lang="en-US" sz="1399" b="1">
                          <a:solidFill>
                            <a:srgbClr val="000000"/>
                          </a:solidFill>
                          <a:latin typeface="Canva Sans Bold"/>
                          <a:ea typeface="Canva Sans Bold"/>
                          <a:cs typeface="Canva Sans Bold"/>
                          <a:sym typeface="Canva Sans Bold"/>
                        </a:rPr>
                        <a:t>dueling</a:t>
                      </a:r>
                      <a:r>
                        <a:rPr lang="en-US" sz="1399">
                          <a:solidFill>
                            <a:srgbClr val="000000"/>
                          </a:solidFill>
                          <a:latin typeface="Canva Sans"/>
                          <a:ea typeface="Canva Sans"/>
                          <a:cs typeface="Canva Sans"/>
                          <a:sym typeface="Canva Sans"/>
                        </a:rPr>
                        <a:t> network decomposition, </a:t>
                      </a:r>
                      <a:r>
                        <a:rPr lang="en-US" sz="1399" b="1">
                          <a:solidFill>
                            <a:srgbClr val="000000"/>
                          </a:solidFill>
                          <a:latin typeface="Canva Sans Bold"/>
                          <a:ea typeface="Canva Sans Bold"/>
                          <a:cs typeface="Canva Sans Bold"/>
                          <a:sym typeface="Canva Sans Bold"/>
                        </a:rPr>
                        <a:t>double</a:t>
                      </a:r>
                      <a:r>
                        <a:rPr lang="en-US" sz="1399">
                          <a:solidFill>
                            <a:srgbClr val="000000"/>
                          </a:solidFill>
                          <a:latin typeface="Canva Sans"/>
                          <a:ea typeface="Canva Sans"/>
                          <a:cs typeface="Canva Sans"/>
                          <a:sym typeface="Canva Sans"/>
                        </a:rPr>
                        <a:t> </a:t>
                      </a:r>
                      <a:r>
                        <a:rPr lang="en-US" sz="1399" b="1">
                          <a:solidFill>
                            <a:srgbClr val="000000"/>
                          </a:solidFill>
                          <a:latin typeface="Canva Sans Bold"/>
                          <a:ea typeface="Canva Sans Bold"/>
                          <a:cs typeface="Canva Sans Bold"/>
                          <a:sym typeface="Canva Sans Bold"/>
                        </a:rPr>
                        <a:t>Q-learning</a:t>
                      </a:r>
                      <a:r>
                        <a:rPr lang="en-US" sz="1399">
                          <a:solidFill>
                            <a:srgbClr val="000000"/>
                          </a:solidFill>
                          <a:latin typeface="Canva Sans"/>
                          <a:ea typeface="Canva Sans"/>
                          <a:cs typeface="Canva Sans"/>
                          <a:sym typeface="Canva Sans"/>
                        </a:rPr>
                        <a:t> with main and target networks, prioritized experience replay, and noisy network parameters to improve convergence speed, stability, and robustness.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Canva Sans"/>
                          <a:ea typeface="Canva Sans"/>
                          <a:cs typeface="Canva Sans"/>
                          <a:sym typeface="Canva Sans"/>
                        </a:rPr>
                        <a:t>Algorithm: </a:t>
                      </a:r>
                      <a:endParaRPr lang="en-US" sz="1100"/>
                    </a:p>
                    <a:p>
                      <a:pPr algn="ctr">
                        <a:lnSpc>
                          <a:spcPts val="1959"/>
                        </a:lnSpc>
                      </a:pPr>
                      <a:r>
                        <a:rPr lang="en-US" sz="1399" b="1">
                          <a:solidFill>
                            <a:srgbClr val="000000"/>
                          </a:solidFill>
                          <a:latin typeface="Canva Sans Bold"/>
                          <a:ea typeface="Canva Sans Bold"/>
                          <a:cs typeface="Canva Sans Bold"/>
                          <a:sym typeface="Canva Sans Bold"/>
                        </a:rPr>
                        <a:t>PPO</a:t>
                      </a:r>
                      <a:r>
                        <a:rPr lang="en-US" sz="1399">
                          <a:solidFill>
                            <a:srgbClr val="000000"/>
                          </a:solidFill>
                          <a:latin typeface="Canva Sans"/>
                          <a:ea typeface="Canva Sans"/>
                          <a:cs typeface="Canva Sans"/>
                          <a:sym typeface="Canva Sans"/>
                        </a:rPr>
                        <a:t> </a:t>
                      </a:r>
                    </a:p>
                    <a:p>
                      <a:pPr algn="ctr">
                        <a:lnSpc>
                          <a:spcPts val="1959"/>
                        </a:lnSpc>
                      </a:pPr>
                      <a:r>
                        <a:rPr lang="en-US" sz="1399" b="1">
                          <a:solidFill>
                            <a:srgbClr val="000000"/>
                          </a:solidFill>
                          <a:latin typeface="Canva Sans Bold"/>
                          <a:ea typeface="Canva Sans Bold"/>
                          <a:cs typeface="Canva Sans Bold"/>
                          <a:sym typeface="Canva Sans Bold"/>
                        </a:rPr>
                        <a:t>Actor–Critic Architecture </a:t>
                      </a:r>
                    </a:p>
                    <a:p>
                      <a:pPr algn="ctr">
                        <a:lnSpc>
                          <a:spcPts val="1959"/>
                        </a:lnSpc>
                      </a:pPr>
                      <a:r>
                        <a:rPr lang="en-US" sz="1399">
                          <a:solidFill>
                            <a:srgbClr val="000000"/>
                          </a:solidFill>
                          <a:latin typeface="Canva Sans"/>
                          <a:ea typeface="Canva Sans"/>
                          <a:cs typeface="Canva Sans"/>
                          <a:sym typeface="Canva Sans"/>
                        </a:rPr>
                        <a:t>Separate MLP networks </a:t>
                      </a:r>
                    </a:p>
                    <a:p>
                      <a:pPr algn="ctr">
                        <a:lnSpc>
                          <a:spcPts val="1959"/>
                        </a:lnSpc>
                      </a:pPr>
                      <a:r>
                        <a:rPr lang="en-US" sz="1399">
                          <a:solidFill>
                            <a:srgbClr val="000000"/>
                          </a:solidFill>
                          <a:latin typeface="Canva Sans"/>
                          <a:ea typeface="Canva Sans"/>
                          <a:cs typeface="Canva Sans"/>
                          <a:sym typeface="Canva Sans"/>
                        </a:rPr>
                        <a:t>Hidden layers (Actor): </a:t>
                      </a:r>
                    </a:p>
                    <a:p>
                      <a:pPr algn="ctr">
                        <a:lnSpc>
                          <a:spcPts val="1959"/>
                        </a:lnSpc>
                      </a:pPr>
                      <a:r>
                        <a:rPr lang="en-US" sz="1399">
                          <a:solidFill>
                            <a:srgbClr val="000000"/>
                          </a:solidFill>
                          <a:latin typeface="Canva Sans"/>
                          <a:ea typeface="Canva Sans"/>
                          <a:cs typeface="Canva Sans"/>
                          <a:sym typeface="Canva Sans"/>
                        </a:rPr>
                        <a:t>[512, 256, 128, 64, 32] </a:t>
                      </a:r>
                    </a:p>
                    <a:p>
                      <a:pPr algn="ctr">
                        <a:lnSpc>
                          <a:spcPts val="1959"/>
                        </a:lnSpc>
                      </a:pPr>
                      <a:r>
                        <a:rPr lang="en-US" sz="1399">
                          <a:solidFill>
                            <a:srgbClr val="000000"/>
                          </a:solidFill>
                          <a:latin typeface="Canva Sans"/>
                          <a:ea typeface="Canva Sans"/>
                          <a:cs typeface="Canva Sans"/>
                          <a:sym typeface="Canva Sans"/>
                        </a:rPr>
                        <a:t>Hidden layers (Critic): </a:t>
                      </a:r>
                    </a:p>
                    <a:p>
                      <a:pPr algn="ctr">
                        <a:lnSpc>
                          <a:spcPts val="1959"/>
                        </a:lnSpc>
                      </a:pPr>
                      <a:r>
                        <a:rPr lang="en-US" sz="1399">
                          <a:solidFill>
                            <a:srgbClr val="000000"/>
                          </a:solidFill>
                          <a:latin typeface="Canva Sans"/>
                          <a:ea typeface="Canva Sans"/>
                          <a:cs typeface="Canva Sans"/>
                          <a:sym typeface="Canva Sans"/>
                        </a:rPr>
                        <a:t>[512, 256, 128, 64, 32]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92007">
                <a:tc>
                  <a:txBody>
                    <a:bodyPr/>
                    <a:lstStyle/>
                    <a:p>
                      <a:pPr algn="ctr">
                        <a:lnSpc>
                          <a:spcPts val="2160"/>
                        </a:lnSpc>
                        <a:defRPr/>
                      </a:pPr>
                      <a:r>
                        <a:rPr lang="en-US" sz="1800" b="1">
                          <a:solidFill>
                            <a:srgbClr val="000000"/>
                          </a:solidFill>
                          <a:latin typeface="Canva Sans Bold"/>
                          <a:ea typeface="Canva Sans Bold"/>
                          <a:cs typeface="Canva Sans Bold"/>
                          <a:sym typeface="Canva Sans Bold"/>
                        </a:rPr>
                        <a:t>Evaluation Metrics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399" b="1">
                          <a:solidFill>
                            <a:srgbClr val="000000"/>
                          </a:solidFill>
                          <a:latin typeface="Canva Sans Bold"/>
                          <a:ea typeface="Canva Sans Bold"/>
                          <a:cs typeface="Canva Sans Bold"/>
                          <a:sym typeface="Canva Sans Bold"/>
                        </a:rPr>
                        <a:t>Average travel time </a:t>
                      </a:r>
                      <a:endParaRPr lang="en-US" sz="1100"/>
                    </a:p>
                    <a:p>
                      <a:pPr algn="ctr">
                        <a:lnSpc>
                          <a:spcPts val="1679"/>
                        </a:lnSpc>
                      </a:pPr>
                      <a:r>
                        <a:rPr lang="en-US" sz="1399">
                          <a:solidFill>
                            <a:srgbClr val="000000"/>
                          </a:solidFill>
                          <a:latin typeface="Canva Sans"/>
                          <a:ea typeface="Canva Sans"/>
                          <a:cs typeface="Canva Sans"/>
                          <a:sym typeface="Canva Sans"/>
                        </a:rPr>
                        <a:t>, Total Traffic Delay, Throughput </a:t>
                      </a:r>
                    </a:p>
                    <a:p>
                      <a:pPr algn="ctr">
                        <a:lnSpc>
                          <a:spcPts val="1679"/>
                        </a:lnSpc>
                      </a:pPr>
                      <a:r>
                        <a:rPr lang="en-US" sz="1399">
                          <a:solidFill>
                            <a:srgbClr val="000000"/>
                          </a:solidFill>
                          <a:latin typeface="Canva Sans"/>
                          <a:ea typeface="Canva Sans"/>
                          <a:cs typeface="Canva Sans"/>
                          <a:sym typeface="Canva Sans"/>
                        </a:rPr>
                        <a:t>, CO₂ Emissions </a:t>
                      </a:r>
                    </a:p>
                    <a:p>
                      <a:pPr algn="ctr">
                        <a:lnSpc>
                          <a:spcPts val="1679"/>
                        </a:lnSpc>
                      </a:pPr>
                      <a:r>
                        <a:rPr lang="en-US" sz="1399">
                          <a:solidFill>
                            <a:srgbClr val="000000"/>
                          </a:solidFill>
                          <a:latin typeface="Canva Sans"/>
                          <a:ea typeface="Canva Sans"/>
                          <a:cs typeface="Canva Sans"/>
                          <a:sym typeface="Canva Sans"/>
                        </a:rPr>
                        <a:t>, Fairness Index (Jain's fairness index) </a:t>
                      </a:r>
                    </a:p>
                    <a:p>
                      <a:pPr algn="ctr">
                        <a:lnSpc>
                          <a:spcPts val="1679"/>
                        </a:lnSpc>
                      </a:pPr>
                      <a:r>
                        <a:rPr lang="en-US" sz="1399">
                          <a:solidFill>
                            <a:srgbClr val="000000"/>
                          </a:solidFill>
                          <a:latin typeface="Canva Sans"/>
                          <a:ea typeface="Canva Sans"/>
                          <a:cs typeface="Canva Sans"/>
                          <a:sym typeface="Canva Sans"/>
                        </a:rPr>
                        <a:t>, System Responsiveness to </a:t>
                      </a:r>
                    </a:p>
                    <a:p>
                      <a:pPr algn="ctr">
                        <a:lnSpc>
                          <a:spcPts val="1679"/>
                        </a:lnSpc>
                      </a:pPr>
                      <a:r>
                        <a:rPr lang="en-US" sz="1399">
                          <a:solidFill>
                            <a:srgbClr val="000000"/>
                          </a:solidFill>
                          <a:latin typeface="Canva Sans"/>
                          <a:ea typeface="Canva Sans"/>
                          <a:cs typeface="Canva Sans"/>
                          <a:sym typeface="Canva Sans"/>
                        </a:rPr>
                        <a:t>Incident events.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399">
                          <a:solidFill>
                            <a:srgbClr val="000000"/>
                          </a:solidFill>
                          <a:latin typeface="Canva Sans"/>
                          <a:ea typeface="Canva Sans"/>
                          <a:cs typeface="Canva Sans"/>
                          <a:sym typeface="Canva Sans"/>
                        </a:rPr>
                        <a:t>Cumulative Reward per episode </a:t>
                      </a:r>
                      <a:endParaRPr lang="en-US" sz="1100"/>
                    </a:p>
                    <a:p>
                      <a:pPr algn="ctr">
                        <a:lnSpc>
                          <a:spcPts val="1679"/>
                        </a:lnSpc>
                      </a:pPr>
                      <a:r>
                        <a:rPr lang="en-US" sz="1399" b="1">
                          <a:solidFill>
                            <a:srgbClr val="000000"/>
                          </a:solidFill>
                          <a:latin typeface="Canva Sans Bold"/>
                          <a:ea typeface="Canva Sans Bold"/>
                          <a:cs typeface="Canva Sans Bold"/>
                          <a:sym typeface="Canva Sans Bold"/>
                        </a:rPr>
                        <a:t>Average Waiting Time </a:t>
                      </a:r>
                      <a:r>
                        <a:rPr lang="en-US" sz="1399">
                          <a:solidFill>
                            <a:srgbClr val="000000"/>
                          </a:solidFill>
                          <a:latin typeface="Canva Sans"/>
                          <a:ea typeface="Canva Sans"/>
                          <a:cs typeface="Canva Sans"/>
                          <a:sym typeface="Canva Sans"/>
                        </a:rPr>
                        <a:t>per lane (seconds) </a:t>
                      </a:r>
                    </a:p>
                    <a:p>
                      <a:pPr algn="ctr">
                        <a:lnSpc>
                          <a:spcPts val="1679"/>
                        </a:lnSpc>
                      </a:pPr>
                      <a:r>
                        <a:rPr lang="en-US" sz="1399" b="1">
                          <a:solidFill>
                            <a:srgbClr val="000000"/>
                          </a:solidFill>
                          <a:latin typeface="Canva Sans Bold"/>
                          <a:ea typeface="Canva Sans Bold"/>
                          <a:cs typeface="Canva Sans Bold"/>
                          <a:sym typeface="Canva Sans Bold"/>
                        </a:rPr>
                        <a:t>Average Queue Length </a:t>
                      </a:r>
                      <a:r>
                        <a:rPr lang="en-US" sz="1399">
                          <a:solidFill>
                            <a:srgbClr val="000000"/>
                          </a:solidFill>
                          <a:latin typeface="Canva Sans"/>
                          <a:ea typeface="Canva Sans"/>
                          <a:cs typeface="Canva Sans"/>
                          <a:sym typeface="Canva Sans"/>
                        </a:rPr>
                        <a:t>per lane (vehicles) 	</a:t>
                      </a:r>
                    </a:p>
                    <a:p>
                      <a:pPr algn="ctr">
                        <a:lnSpc>
                          <a:spcPts val="1959"/>
                        </a:lnSpc>
                      </a:pPr>
                      <a:r>
                        <a:rPr lang="en-US" sz="1399">
                          <a:solidFill>
                            <a:srgbClr val="000000"/>
                          </a:solidFill>
                          <a:latin typeface="Canva Sans"/>
                          <a:ea typeface="Canva Sans"/>
                          <a:cs typeface="Canva Sans"/>
                          <a:sym typeface="Canva Sans"/>
                        </a:rPr>
                        <a:t>. </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r>
                        <a:rPr lang="en-US" sz="1399" b="1">
                          <a:solidFill>
                            <a:srgbClr val="000000"/>
                          </a:solidFill>
                          <a:latin typeface="Canva Sans Bold"/>
                          <a:ea typeface="Canva Sans Bold"/>
                          <a:cs typeface="Canva Sans Bold"/>
                          <a:sym typeface="Canva Sans Bold"/>
                        </a:rPr>
                        <a:t>Avg &amp; total wait time </a:t>
                      </a:r>
                      <a:r>
                        <a:rPr lang="en-US" sz="1399">
                          <a:solidFill>
                            <a:srgbClr val="000000"/>
                          </a:solidFill>
                          <a:latin typeface="Canva Sans"/>
                          <a:ea typeface="Canva Sans"/>
                          <a:cs typeface="Canva Sans"/>
                          <a:sym typeface="Canva Sans"/>
                        </a:rPr>
                        <a:t>(vehicle &amp; pedestrian), conflict count, phase switching frequency, generalization under unseen demand. 	</a:t>
                      </a:r>
                      <a:endParaRPr lang="en-US" sz="1100"/>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Box 4"/>
          <p:cNvSpPr txBox="1"/>
          <p:nvPr/>
        </p:nvSpPr>
        <p:spPr>
          <a:xfrm>
            <a:off x="1120140" y="8951595"/>
            <a:ext cx="865803" cy="325517"/>
          </a:xfrm>
          <a:prstGeom prst="rect">
            <a:avLst/>
          </a:prstGeom>
        </p:spPr>
        <p:txBody>
          <a:bodyPr lIns="0" tIns="0" rIns="0" bIns="0" rtlCol="0" anchor="t">
            <a:spAutoFit/>
          </a:bodyPr>
          <a:lstStyle/>
          <a:p>
            <a:pPr algn="l">
              <a:lnSpc>
                <a:spcPts val="2160"/>
              </a:lnSpc>
            </a:pPr>
            <a:r>
              <a:rPr lang="en-US" sz="1800" b="1">
                <a:solidFill>
                  <a:srgbClr val="000000"/>
                </a:solidFill>
                <a:latin typeface="Agrandir Bold"/>
                <a:ea typeface="Agrandir Bold"/>
                <a:cs typeface="Agrandir Bold"/>
                <a:sym typeface="Agrandir Bold"/>
              </a:rPr>
              <a:t>Details: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5747166" y="532047"/>
            <a:ext cx="5410200" cy="394621"/>
          </a:xfrm>
          <a:prstGeom prst="rect">
            <a:avLst/>
          </a:prstGeom>
        </p:spPr>
        <p:txBody>
          <a:bodyPr lIns="0" tIns="0" rIns="0" bIns="0" rtlCol="0" anchor="t">
            <a:spAutoFit/>
          </a:bodyPr>
          <a:lstStyle/>
          <a:p>
            <a:pPr algn="l">
              <a:lnSpc>
                <a:spcPts val="3300"/>
              </a:lnSpc>
            </a:pPr>
            <a:r>
              <a:rPr lang="en-US" sz="3000" b="1">
                <a:solidFill>
                  <a:srgbClr val="1D1D1B"/>
                </a:solidFill>
                <a:latin typeface="Canva Sans Bold"/>
                <a:ea typeface="Canva Sans Bold"/>
                <a:cs typeface="Canva Sans Bold"/>
                <a:sym typeface="Canva Sans Bold"/>
              </a:rPr>
              <a:t>Datasets Comparison Table</a:t>
            </a:r>
          </a:p>
        </p:txBody>
      </p:sp>
      <p:sp>
        <p:nvSpPr>
          <p:cNvPr id="3" name="TextBox 3"/>
          <p:cNvSpPr txBox="1"/>
          <p:nvPr/>
        </p:nvSpPr>
        <p:spPr>
          <a:xfrm>
            <a:off x="1181405" y="1723092"/>
            <a:ext cx="9131522" cy="336547"/>
          </a:xfrm>
          <a:prstGeom prst="rect">
            <a:avLst/>
          </a:prstGeom>
        </p:spPr>
        <p:txBody>
          <a:bodyPr lIns="0" tIns="0" rIns="0" bIns="0" rtlCol="0" anchor="t">
            <a:spAutoFit/>
          </a:bodyPr>
          <a:lstStyle/>
          <a:p>
            <a:pPr algn="l">
              <a:lnSpc>
                <a:spcPts val="2750"/>
              </a:lnSpc>
            </a:pPr>
            <a:r>
              <a:rPr lang="en-US" sz="2499" b="1">
                <a:solidFill>
                  <a:srgbClr val="1D1D1B"/>
                </a:solidFill>
                <a:latin typeface="Canva Sans Bold"/>
                <a:ea typeface="Canva Sans Bold"/>
                <a:cs typeface="Canva Sans Bold"/>
                <a:sym typeface="Canva Sans Bold"/>
              </a:rPr>
              <a:t>Table 1: General Dataset Characteristics</a:t>
            </a:r>
          </a:p>
        </p:txBody>
      </p:sp>
      <p:graphicFrame>
        <p:nvGraphicFramePr>
          <p:cNvPr id="4" name="Table 4"/>
          <p:cNvGraphicFramePr>
            <a:graphicFrameLocks noGrp="1"/>
          </p:cNvGraphicFramePr>
          <p:nvPr/>
        </p:nvGraphicFramePr>
        <p:xfrm>
          <a:off x="1161525" y="2125472"/>
          <a:ext cx="16192500" cy="8154439"/>
        </p:xfrm>
        <a:graphic>
          <a:graphicData uri="http://schemas.openxmlformats.org/drawingml/2006/table">
            <a:tbl>
              <a:tblPr/>
              <a:tblGrid>
                <a:gridCol w="32385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3238500">
                  <a:extLst>
                    <a:ext uri="{9D8B030D-6E8A-4147-A177-3AD203B41FA5}">
                      <a16:colId xmlns:a16="http://schemas.microsoft.com/office/drawing/2014/main" val="20003"/>
                    </a:ext>
                  </a:extLst>
                </a:gridCol>
                <a:gridCol w="3238500">
                  <a:extLst>
                    <a:ext uri="{9D8B030D-6E8A-4147-A177-3AD203B41FA5}">
                      <a16:colId xmlns:a16="http://schemas.microsoft.com/office/drawing/2014/main" val="20004"/>
                    </a:ext>
                  </a:extLst>
                </a:gridCol>
              </a:tblGrid>
              <a:tr h="1156040">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Data Type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Size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What it Contains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Annotations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0"/>
                  </a:ext>
                </a:extLst>
              </a:tr>
              <a:tr h="1156040">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Performance Measurement System (PeMs)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Real highway sensor data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thousands of highway sensors across California; multi-year measurements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flow, speed, occupancy, timestamps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sensor metadata including location and lane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1156040">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Manchester Traffic 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Real-world traffic counts 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includes 338 count points, 37,572 raw traffic records, 4,631 daily flow records, and 8,419 directional flow records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vehicle counts at road count points, traffic by vehicle class, annual average daily flow, directional traffic flow</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metadata including count location, estimation method, road type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1255602">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SUMO Traffic Scenarios (Toronto, Monaco, Cologne, etc.)</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Simulation 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range from single intersection, corridors, district-level networks, to full city simulations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road network topology, intersections, lanes, vehicle routes, traffic signals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vehicles and routes defined explicitly in simulation files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1156040">
                <a:tc>
                  <a:txBody>
                    <a:bodyPr/>
                    <a:lstStyle/>
                    <a:p>
                      <a:pPr algn="ctr">
                        <a:lnSpc>
                          <a:spcPts val="2800"/>
                        </a:lnSpc>
                        <a:defRPr/>
                      </a:pPr>
                      <a:r>
                        <a:rPr lang="en-US" sz="2000" b="1">
                          <a:solidFill>
                            <a:srgbClr val="008247"/>
                          </a:solidFill>
                          <a:latin typeface="Canva Sans Bold"/>
                          <a:ea typeface="Canva Sans Bold"/>
                          <a:cs typeface="Canva Sans Bold"/>
                          <a:sym typeface="Canva Sans Bold"/>
                        </a:rPr>
                        <a:t>Hangzhou Traffic Signal Control 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Real traffic data converted to simulation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1 intersection (1×1) to 16 intersections (4×4 grid); simulation duration 3600 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road network and traffic flows derived from camera data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turning ratios estimated (10% left, 60% straight, 30% right) due to missing turn records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1156040">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Traffic Flow Dataset - Zenodo</a:t>
                      </a:r>
                      <a:endParaRPr lang="en-US" sz="1100"/>
                    </a:p>
                    <a:p>
                      <a:pPr algn="ctr">
                        <a:lnSpc>
                          <a:spcPts val="2800"/>
                        </a:lnSpc>
                      </a:pP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real-world networks + simulated traffic demand for SUMO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10 networks (6 synthetic + 4 real), 22 optimization instances, each with 1200 traffic demand inputs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volume inputs, generated vehicle routes, SUMO network definitions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demand definitions per network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Freeform 5"/>
          <p:cNvSpPr/>
          <p:nvPr/>
        </p:nvSpPr>
        <p:spPr>
          <a:xfrm>
            <a:off x="15791983" y="1028700"/>
            <a:ext cx="1467317" cy="1003106"/>
          </a:xfrm>
          <a:custGeom>
            <a:avLst/>
            <a:gdLst/>
            <a:ahLst/>
            <a:cxnLst/>
            <a:rect l="l" t="t" r="r" b="b"/>
            <a:pathLst>
              <a:path w="1467317" h="1003106">
                <a:moveTo>
                  <a:pt x="0" y="0"/>
                </a:moveTo>
                <a:lnTo>
                  <a:pt x="1467317" y="0"/>
                </a:lnTo>
                <a:lnTo>
                  <a:pt x="1467317" y="1003106"/>
                </a:lnTo>
                <a:lnTo>
                  <a:pt x="0" y="1003106"/>
                </a:lnTo>
                <a:lnTo>
                  <a:pt x="0" y="0"/>
                </a:lnTo>
                <a:close/>
              </a:path>
            </a:pathLst>
          </a:custGeom>
          <a:blipFill>
            <a:blip r:embed="rId3">
              <a:extLst>
                <a:ext uri="{96DAC541-7B7A-43D3-8B79-37D633B846F1}">
                  <asvg:svgBlip xmlns:asvg="http://schemas.microsoft.com/office/drawing/2016/SVG/main" r:embed="rId4"/>
                </a:ext>
              </a:extLst>
            </a:blip>
            <a:stretch>
              <a:fillRect t="-17" b="-18"/>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028700" y="1352550"/>
            <a:ext cx="8295313" cy="336547"/>
          </a:xfrm>
          <a:prstGeom prst="rect">
            <a:avLst/>
          </a:prstGeom>
        </p:spPr>
        <p:txBody>
          <a:bodyPr lIns="0" tIns="0" rIns="0" bIns="0" rtlCol="0" anchor="t">
            <a:spAutoFit/>
          </a:bodyPr>
          <a:lstStyle/>
          <a:p>
            <a:pPr algn="l">
              <a:lnSpc>
                <a:spcPts val="2750"/>
              </a:lnSpc>
            </a:pPr>
            <a:r>
              <a:rPr lang="en-US" sz="2499" b="1">
                <a:solidFill>
                  <a:srgbClr val="000000"/>
                </a:solidFill>
                <a:latin typeface="Canva Sans Bold"/>
                <a:ea typeface="Canva Sans Bold"/>
                <a:cs typeface="Canva Sans Bold"/>
                <a:sym typeface="Canva Sans Bold"/>
              </a:rPr>
              <a:t>Table 2: Inputs, Outputs, and Use cases</a:t>
            </a:r>
          </a:p>
        </p:txBody>
      </p:sp>
      <p:graphicFrame>
        <p:nvGraphicFramePr>
          <p:cNvPr id="3" name="Table 3"/>
          <p:cNvGraphicFramePr>
            <a:graphicFrameLocks noGrp="1"/>
          </p:cNvGraphicFramePr>
          <p:nvPr/>
        </p:nvGraphicFramePr>
        <p:xfrm>
          <a:off x="1028700" y="2031810"/>
          <a:ext cx="16205200" cy="7200900"/>
        </p:xfrm>
        <a:graphic>
          <a:graphicData uri="http://schemas.openxmlformats.org/drawingml/2006/table">
            <a:tbl>
              <a:tblPr/>
              <a:tblGrid>
                <a:gridCol w="4051300">
                  <a:extLst>
                    <a:ext uri="{9D8B030D-6E8A-4147-A177-3AD203B41FA5}">
                      <a16:colId xmlns:a16="http://schemas.microsoft.com/office/drawing/2014/main" val="20000"/>
                    </a:ext>
                  </a:extLst>
                </a:gridCol>
                <a:gridCol w="4051300">
                  <a:extLst>
                    <a:ext uri="{9D8B030D-6E8A-4147-A177-3AD203B41FA5}">
                      <a16:colId xmlns:a16="http://schemas.microsoft.com/office/drawing/2014/main" val="20001"/>
                    </a:ext>
                  </a:extLst>
                </a:gridCol>
                <a:gridCol w="4051300">
                  <a:extLst>
                    <a:ext uri="{9D8B030D-6E8A-4147-A177-3AD203B41FA5}">
                      <a16:colId xmlns:a16="http://schemas.microsoft.com/office/drawing/2014/main" val="20002"/>
                    </a:ext>
                  </a:extLst>
                </a:gridCol>
                <a:gridCol w="4051300">
                  <a:extLst>
                    <a:ext uri="{9D8B030D-6E8A-4147-A177-3AD203B41FA5}">
                      <a16:colId xmlns:a16="http://schemas.microsoft.com/office/drawing/2014/main" val="20003"/>
                    </a:ext>
                  </a:extLst>
                </a:gridCol>
              </a:tblGrid>
              <a:tr h="125770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Inputs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Outputs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Use Cases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0"/>
                  </a:ext>
                </a:extLst>
              </a:tr>
              <a:tr h="125770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Performance Measurement System (PeMs)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sensor measurements at time intervals (e.g., 5-min aggregation)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predicted traffic speed or flow in forecasting tasks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flow prediction, congestion analysis, spatio-temporal modelling</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125770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Manchester Traffic 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counts from manual and automatic roadside sensors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volume statistics such as vehicles per day</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demand analysis,</a:t>
                      </a:r>
                      <a:endParaRPr lang="en-US" sz="1100"/>
                    </a:p>
                    <a:p>
                      <a:pPr algn="ctr">
                        <a:lnSpc>
                          <a:spcPts val="2799"/>
                        </a:lnSpc>
                      </a:pPr>
                      <a:r>
                        <a:rPr lang="en-US" sz="1600">
                          <a:solidFill>
                            <a:srgbClr val="000000"/>
                          </a:solidFill>
                          <a:latin typeface="Canva Sans"/>
                          <a:ea typeface="Canva Sans"/>
                          <a:cs typeface="Canva Sans"/>
                          <a:sym typeface="Canva Sans"/>
                        </a:rPr>
                        <a:t> urban traffic statistics,</a:t>
                      </a:r>
                    </a:p>
                    <a:p>
                      <a:pPr algn="ctr">
                        <a:lnSpc>
                          <a:spcPts val="2799"/>
                        </a:lnSpc>
                      </a:pPr>
                      <a:r>
                        <a:rPr lang="en-US" sz="1600">
                          <a:solidFill>
                            <a:srgbClr val="000000"/>
                          </a:solidFill>
                          <a:latin typeface="Canva Sans"/>
                          <a:ea typeface="Canva Sans"/>
                          <a:cs typeface="Canva Sans"/>
                          <a:sym typeface="Canva Sans"/>
                        </a:rPr>
                        <a:t> traffic forecasting</a:t>
                      </a: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125770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SUMO Traffic Scenarios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network file (.net.xml), route file (.rou.xml), configuration (.sumocfg)</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vehicle travel time, delay, queue length, throughput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signal optimization</a:t>
                      </a:r>
                      <a:endParaRPr lang="en-US" sz="1100"/>
                    </a:p>
                    <a:p>
                      <a:pPr algn="ctr">
                        <a:lnSpc>
                          <a:spcPts val="2799"/>
                        </a:lnSpc>
                      </a:pPr>
                      <a:r>
                        <a:rPr lang="en-US" sz="1600">
                          <a:solidFill>
                            <a:srgbClr val="000000"/>
                          </a:solidFill>
                          <a:latin typeface="Canva Sans"/>
                          <a:ea typeface="Canva Sans"/>
                          <a:cs typeface="Canva Sans"/>
                          <a:sym typeface="Canva Sans"/>
                        </a:rPr>
                        <a:t>, traffic simulation experiments,</a:t>
                      </a:r>
                    </a:p>
                    <a:p>
                      <a:pPr algn="ctr">
                        <a:lnSpc>
                          <a:spcPts val="2799"/>
                        </a:lnSpc>
                      </a:pPr>
                      <a:r>
                        <a:rPr lang="en-US" sz="1600">
                          <a:solidFill>
                            <a:srgbClr val="000000"/>
                          </a:solidFill>
                          <a:latin typeface="Canva Sans"/>
                          <a:ea typeface="Canva Sans"/>
                          <a:cs typeface="Canva Sans"/>
                          <a:sym typeface="Canva Sans"/>
                        </a:rPr>
                        <a:t> RL training</a:t>
                      </a: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1257705">
                <a:tc>
                  <a:txBody>
                    <a:bodyPr/>
                    <a:lstStyle/>
                    <a:p>
                      <a:pPr algn="ctr">
                        <a:lnSpc>
                          <a:spcPts val="2800"/>
                        </a:lnSpc>
                        <a:defRPr/>
                      </a:pPr>
                      <a:r>
                        <a:rPr lang="en-US" sz="2000" b="1">
                          <a:solidFill>
                            <a:srgbClr val="008247"/>
                          </a:solidFill>
                          <a:latin typeface="Canva Sans Bold"/>
                          <a:ea typeface="Canva Sans Bold"/>
                          <a:cs typeface="Canva Sans Bold"/>
                          <a:sym typeface="Canva Sans Bold"/>
                        </a:rPr>
                        <a:t>Hangzhou Traffic Signal Control Dataset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roadnet.json, flow.json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average travel time used for evaluation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reinforcement learning traffic signal control benchmarks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91237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Traffic Flow Dataset - Zenodo</a:t>
                      </a:r>
                      <a:endParaRPr lang="en-US" sz="1100"/>
                    </a:p>
                    <a:p>
                      <a:pPr algn="ctr">
                        <a:lnSpc>
                          <a:spcPts val="2800"/>
                        </a:lnSpc>
                      </a:pP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volume inputs τ used by JTRrouter to generate routes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vehicle routes and traffic simulation outputs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799"/>
                        </a:lnSpc>
                        <a:defRPr/>
                      </a:pPr>
                      <a:r>
                        <a:rPr lang="en-US" sz="1600">
                          <a:solidFill>
                            <a:srgbClr val="000000"/>
                          </a:solidFill>
                          <a:latin typeface="Canva Sans"/>
                          <a:ea typeface="Canva Sans"/>
                          <a:cs typeface="Canva Sans"/>
                          <a:sym typeface="Canva Sans"/>
                        </a:rPr>
                        <a:t>traffic signal timing optimization research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Freeform 4"/>
          <p:cNvSpPr/>
          <p:nvPr/>
        </p:nvSpPr>
        <p:spPr>
          <a:xfrm>
            <a:off x="15791983" y="1028700"/>
            <a:ext cx="1467317" cy="1003106"/>
          </a:xfrm>
          <a:custGeom>
            <a:avLst/>
            <a:gdLst/>
            <a:ahLst/>
            <a:cxnLst/>
            <a:rect l="l" t="t" r="r" b="b"/>
            <a:pathLst>
              <a:path w="1467317" h="1003106">
                <a:moveTo>
                  <a:pt x="0" y="0"/>
                </a:moveTo>
                <a:lnTo>
                  <a:pt x="1467317" y="0"/>
                </a:lnTo>
                <a:lnTo>
                  <a:pt x="1467317" y="1003106"/>
                </a:lnTo>
                <a:lnTo>
                  <a:pt x="0" y="1003106"/>
                </a:lnTo>
                <a:lnTo>
                  <a:pt x="0" y="0"/>
                </a:lnTo>
                <a:close/>
              </a:path>
            </a:pathLst>
          </a:custGeom>
          <a:blipFill>
            <a:blip r:embed="rId2">
              <a:extLst>
                <a:ext uri="{96DAC541-7B7A-43D3-8B79-37D633B846F1}">
                  <asvg:svgBlip xmlns:asvg="http://schemas.microsoft.com/office/drawing/2016/SVG/main" r:embed="rId3"/>
                </a:ext>
              </a:extLst>
            </a:blip>
            <a:stretch>
              <a:fillRect t="-17" b="-18"/>
            </a:stretch>
          </a:blipFill>
        </p:spPr>
      </p:sp>
      <p:sp>
        <p:nvSpPr>
          <p:cNvPr id="5" name="TextBox 5"/>
          <p:cNvSpPr txBox="1"/>
          <p:nvPr/>
        </p:nvSpPr>
        <p:spPr>
          <a:xfrm>
            <a:off x="1083697" y="9513570"/>
            <a:ext cx="14904720" cy="434378"/>
          </a:xfrm>
          <a:prstGeom prst="rect">
            <a:avLst/>
          </a:prstGeom>
        </p:spPr>
        <p:txBody>
          <a:bodyPr lIns="0" tIns="0" rIns="0" bIns="0" rtlCol="0" anchor="t">
            <a:spAutoFit/>
          </a:bodyPr>
          <a:lstStyle/>
          <a:p>
            <a:pPr algn="l">
              <a:lnSpc>
                <a:spcPts val="2750"/>
              </a:lnSpc>
            </a:pPr>
            <a:r>
              <a:rPr lang="en-US" sz="1600" b="1">
                <a:solidFill>
                  <a:srgbClr val="1D1D1B"/>
                </a:solidFill>
                <a:latin typeface="Arimo Bold"/>
                <a:ea typeface="Arimo Bold"/>
                <a:cs typeface="Arimo Bold"/>
                <a:sym typeface="Arimo Bold"/>
              </a:rPr>
              <a:t>For more details: </a:t>
            </a:r>
            <a:r>
              <a:rPr lang="en-US" sz="1600" b="1" u="sng">
                <a:solidFill>
                  <a:srgbClr val="0000FF"/>
                </a:solidFill>
                <a:latin typeface="Arimo Bold"/>
                <a:ea typeface="Arimo Bold"/>
                <a:cs typeface="Arimo Bold"/>
                <a:sym typeface="Arimo Bold"/>
                <a:hlinkClick r:id="rId4" tooltip="https://1drv.ms/w/c/c8c8909e9d56f63b/IQALlcaaL1XaTrWo7oRUT6KBAdZJfm0uo1k9sgraPBjeTrE?e=Q8kpz3"/>
              </a:rPr>
              <a:t>https://1drv.ms/w/c/c8c8909e9d56f63b/IQALlcaaL1XaTrWo7oRUT6KBAdZJfm0uo1k9sgraPBjeTrE?e=Q8kpz3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2372792" y="8239125"/>
            <a:ext cx="14886508" cy="742950"/>
          </a:xfrm>
          <a:prstGeom prst="rect">
            <a:avLst/>
          </a:prstGeom>
        </p:spPr>
        <p:txBody>
          <a:bodyPr lIns="0" tIns="0" rIns="0" bIns="0" rtlCol="0" anchor="t">
            <a:spAutoFit/>
          </a:bodyPr>
          <a:lstStyle/>
          <a:p>
            <a:pPr algn="l">
              <a:lnSpc>
                <a:spcPts val="2750"/>
              </a:lnSpc>
            </a:pPr>
            <a:r>
              <a:rPr lang="en-US" sz="2499" b="1">
                <a:solidFill>
                  <a:srgbClr val="1D1D1B"/>
                </a:solidFill>
                <a:latin typeface="Agrandir Bold"/>
                <a:ea typeface="Agrandir Bold"/>
                <a:cs typeface="Agrandir Bold"/>
                <a:sym typeface="Agrandir Bold"/>
              </a:rPr>
              <a:t>For more details:</a:t>
            </a:r>
          </a:p>
          <a:p>
            <a:pPr algn="l">
              <a:lnSpc>
                <a:spcPts val="2200"/>
              </a:lnSpc>
            </a:pPr>
            <a:r>
              <a:rPr lang="en-US" sz="2000" b="1" u="sng">
                <a:solidFill>
                  <a:srgbClr val="0000FF"/>
                </a:solidFill>
                <a:latin typeface="Agrandir Bold"/>
                <a:ea typeface="Agrandir Bold"/>
                <a:cs typeface="Agrandir Bold"/>
                <a:sym typeface="Agrandir Bold"/>
                <a:hlinkClick r:id="rId2" tooltip="https://1drv.ms/w/c/0d77e4f105f88a3b/IQDaD9_1304MQ7Xpa1FvlGjJATZq1T-t3sWBVBmC2fOWpr4?e=MmeTBW"/>
              </a:rPr>
              <a:t>https://1drv.ms/w/c/0d77e4f105f88a3b/IQDaD9_1304MQ7Xpa1FvlGjJATZq1T-t3sWBVBmC2fOWpr4?e=MmeTBW</a:t>
            </a:r>
          </a:p>
        </p:txBody>
      </p:sp>
      <p:sp>
        <p:nvSpPr>
          <p:cNvPr id="3" name="TextBox 3"/>
          <p:cNvSpPr txBox="1"/>
          <p:nvPr/>
        </p:nvSpPr>
        <p:spPr>
          <a:xfrm>
            <a:off x="2372792" y="1630337"/>
            <a:ext cx="13542426" cy="6165894"/>
          </a:xfrm>
          <a:prstGeom prst="rect">
            <a:avLst/>
          </a:prstGeom>
        </p:spPr>
        <p:txBody>
          <a:bodyPr lIns="0" tIns="0" rIns="0" bIns="0" rtlCol="0" anchor="t">
            <a:spAutoFit/>
          </a:bodyPr>
          <a:lstStyle/>
          <a:p>
            <a:pPr algn="ctr">
              <a:lnSpc>
                <a:spcPts val="2753"/>
              </a:lnSpc>
            </a:pPr>
            <a:r>
              <a:rPr lang="en-US" sz="2503" b="1">
                <a:solidFill>
                  <a:srgbClr val="1D1D1B"/>
                </a:solidFill>
                <a:latin typeface="Canva Sans Bold"/>
                <a:ea typeface="Canva Sans Bold"/>
                <a:cs typeface="Canva Sans Bold"/>
                <a:sym typeface="Canva Sans Bold"/>
              </a:rPr>
              <a:t>(hangzhou_1x1_kn-hz_18041608_1h)</a:t>
            </a:r>
          </a:p>
          <a:p>
            <a:pPr algn="ctr">
              <a:lnSpc>
                <a:spcPts val="2753"/>
              </a:lnSpc>
            </a:pPr>
            <a:endParaRPr lang="en-US" sz="2503" b="1">
              <a:solidFill>
                <a:srgbClr val="1D1D1B"/>
              </a:solidFill>
              <a:latin typeface="Canva Sans Bold"/>
              <a:ea typeface="Canva Sans Bold"/>
              <a:cs typeface="Canva Sans Bold"/>
              <a:sym typeface="Canva Sans Bold"/>
            </a:endParaRPr>
          </a:p>
          <a:p>
            <a:pPr algn="ctr">
              <a:lnSpc>
                <a:spcPts val="2753"/>
              </a:lnSpc>
            </a:pPr>
            <a:r>
              <a:rPr lang="en-US" sz="2503">
                <a:solidFill>
                  <a:srgbClr val="1D1D1B"/>
                </a:solidFill>
                <a:latin typeface="Canva Sans"/>
                <a:ea typeface="Canva Sans"/>
                <a:cs typeface="Canva Sans"/>
                <a:sym typeface="Canva Sans"/>
              </a:rPr>
              <a:t>represents traffic data from a single intersection (1×1 road network) in Hangzhou, China.</a:t>
            </a:r>
          </a:p>
          <a:p>
            <a:pPr algn="l">
              <a:lnSpc>
                <a:spcPts val="2753"/>
              </a:lnSpc>
            </a:pPr>
            <a:r>
              <a:rPr lang="en-US" sz="2503">
                <a:solidFill>
                  <a:srgbClr val="1D1D1B"/>
                </a:solidFill>
                <a:latin typeface="Canva Sans"/>
                <a:ea typeface="Canva Sans"/>
                <a:cs typeface="Canva Sans"/>
                <a:sym typeface="Canva Sans"/>
              </a:rPr>
              <a:t>The dataset covers one hour (3600 seconds) of traffic collected on April 16, 2018. </a:t>
            </a:r>
          </a:p>
          <a:p>
            <a:pPr algn="l">
              <a:lnSpc>
                <a:spcPts val="2753"/>
              </a:lnSpc>
            </a:pPr>
            <a:r>
              <a:rPr lang="en-US" sz="2503">
                <a:solidFill>
                  <a:srgbClr val="1D1D1B"/>
                </a:solidFill>
                <a:latin typeface="Canva Sans"/>
                <a:ea typeface="Canva Sans"/>
                <a:cs typeface="Canva Sans"/>
                <a:sym typeface="Canva Sans"/>
              </a:rPr>
              <a:t>It is designed for experiments using the CityFlow traffic simulator to study traffic signal control strategies.</a:t>
            </a:r>
          </a:p>
          <a:p>
            <a:pPr algn="l">
              <a:lnSpc>
                <a:spcPts val="2753"/>
              </a:lnSpc>
            </a:pPr>
            <a:endParaRPr lang="en-US" sz="2503">
              <a:solidFill>
                <a:srgbClr val="1D1D1B"/>
              </a:solidFill>
              <a:latin typeface="Canva Sans"/>
              <a:ea typeface="Canva Sans"/>
              <a:cs typeface="Canva Sans"/>
              <a:sym typeface="Canva Sans"/>
            </a:endParaRPr>
          </a:p>
          <a:p>
            <a:pPr algn="l">
              <a:lnSpc>
                <a:spcPts val="2753"/>
              </a:lnSpc>
            </a:pPr>
            <a:r>
              <a:rPr lang="en-US" sz="2503" b="1">
                <a:solidFill>
                  <a:srgbClr val="1D1D1B"/>
                </a:solidFill>
                <a:latin typeface="Canva Sans Bold"/>
                <a:ea typeface="Canva Sans Bold"/>
                <a:cs typeface="Canva Sans Bold"/>
                <a:sym typeface="Canva Sans Bold"/>
              </a:rPr>
              <a:t>The input</a:t>
            </a:r>
            <a:r>
              <a:rPr lang="en-US" sz="2503">
                <a:solidFill>
                  <a:srgbClr val="1D1D1B"/>
                </a:solidFill>
                <a:latin typeface="Canva Sans"/>
                <a:ea typeface="Canva Sans"/>
                <a:cs typeface="Canva Sans"/>
                <a:sym typeface="Canva Sans"/>
              </a:rPr>
              <a:t> of the dataset includes the road network structure (roadnet.json) and vehicle flow information (flow.json), which describe lane connections, signal phases, vehicle routes, and arrival times. </a:t>
            </a:r>
          </a:p>
          <a:p>
            <a:pPr algn="l">
              <a:lnSpc>
                <a:spcPts val="2753"/>
              </a:lnSpc>
            </a:pPr>
            <a:endParaRPr lang="en-US" sz="2503">
              <a:solidFill>
                <a:srgbClr val="1D1D1B"/>
              </a:solidFill>
              <a:latin typeface="Canva Sans"/>
              <a:ea typeface="Canva Sans"/>
              <a:cs typeface="Canva Sans"/>
              <a:sym typeface="Canva Sans"/>
            </a:endParaRPr>
          </a:p>
          <a:p>
            <a:pPr algn="l">
              <a:lnSpc>
                <a:spcPts val="2753"/>
              </a:lnSpc>
            </a:pPr>
            <a:r>
              <a:rPr lang="en-US" sz="2503">
                <a:solidFill>
                  <a:srgbClr val="1D1D1B"/>
                </a:solidFill>
                <a:latin typeface="Canva Sans"/>
                <a:ea typeface="Canva Sans"/>
                <a:cs typeface="Canva Sans"/>
                <a:sym typeface="Canva Sans"/>
              </a:rPr>
              <a:t>These files define how vehicles move through the intersection during the simulation. </a:t>
            </a:r>
          </a:p>
          <a:p>
            <a:pPr algn="l">
              <a:lnSpc>
                <a:spcPts val="2753"/>
              </a:lnSpc>
            </a:pPr>
            <a:r>
              <a:rPr lang="en-US" sz="2503" b="1">
                <a:solidFill>
                  <a:srgbClr val="1D1D1B"/>
                </a:solidFill>
                <a:latin typeface="Canva Sans Bold"/>
                <a:ea typeface="Canva Sans Bold"/>
                <a:cs typeface="Canva Sans Bold"/>
                <a:sym typeface="Canva Sans Bold"/>
              </a:rPr>
              <a:t>The traffic volume</a:t>
            </a:r>
            <a:r>
              <a:rPr lang="en-US" sz="2503">
                <a:solidFill>
                  <a:srgbClr val="1D1D1B"/>
                </a:solidFill>
                <a:latin typeface="Canva Sans"/>
                <a:ea typeface="Canva Sans"/>
                <a:cs typeface="Canva Sans"/>
                <a:sym typeface="Canva Sans"/>
              </a:rPr>
              <a:t> in this dataset is relatively light, making it suitable for analyzing traffic control under lower demand conditions. </a:t>
            </a:r>
          </a:p>
          <a:p>
            <a:pPr algn="l">
              <a:lnSpc>
                <a:spcPts val="2753"/>
              </a:lnSpc>
            </a:pPr>
            <a:endParaRPr lang="en-US" sz="2503">
              <a:solidFill>
                <a:srgbClr val="1D1D1B"/>
              </a:solidFill>
              <a:latin typeface="Canva Sans"/>
              <a:ea typeface="Canva Sans"/>
              <a:cs typeface="Canva Sans"/>
              <a:sym typeface="Canva Sans"/>
            </a:endParaRPr>
          </a:p>
          <a:p>
            <a:pPr algn="l">
              <a:lnSpc>
                <a:spcPts val="2753"/>
              </a:lnSpc>
            </a:pPr>
            <a:r>
              <a:rPr lang="en-US" sz="2503" b="1">
                <a:solidFill>
                  <a:srgbClr val="1D1D1B"/>
                </a:solidFill>
                <a:latin typeface="Canva Sans Bold"/>
                <a:ea typeface="Canva Sans Bold"/>
                <a:cs typeface="Canva Sans Bold"/>
                <a:sym typeface="Canva Sans Bold"/>
              </a:rPr>
              <a:t>The output </a:t>
            </a:r>
            <a:r>
              <a:rPr lang="en-US" sz="2503">
                <a:solidFill>
                  <a:srgbClr val="1D1D1B"/>
                </a:solidFill>
                <a:latin typeface="Canva Sans"/>
                <a:ea typeface="Canva Sans"/>
                <a:cs typeface="Canva Sans"/>
                <a:sym typeface="Canva Sans"/>
              </a:rPr>
              <a:t>of simulations using this dataset includes: vehicle travel time, waiting time, queue length, and traffic signal performance metrics. These outputs help evaluate how efficiently a traffic signal control algorithm manages the intersection.</a:t>
            </a:r>
          </a:p>
        </p:txBody>
      </p:sp>
      <p:sp>
        <p:nvSpPr>
          <p:cNvPr id="4" name="Freeform 4"/>
          <p:cNvSpPr/>
          <p:nvPr/>
        </p:nvSpPr>
        <p:spPr>
          <a:xfrm>
            <a:off x="16341252" y="1028700"/>
            <a:ext cx="918048" cy="1127065"/>
          </a:xfrm>
          <a:custGeom>
            <a:avLst/>
            <a:gdLst/>
            <a:ahLst/>
            <a:cxnLst/>
            <a:rect l="l" t="t" r="r" b="b"/>
            <a:pathLst>
              <a:path w="918048" h="1127065">
                <a:moveTo>
                  <a:pt x="0" y="0"/>
                </a:moveTo>
                <a:lnTo>
                  <a:pt x="918048" y="0"/>
                </a:lnTo>
                <a:lnTo>
                  <a:pt x="918048" y="1127065"/>
                </a:lnTo>
                <a:lnTo>
                  <a:pt x="0" y="1127065"/>
                </a:lnTo>
                <a:lnTo>
                  <a:pt x="0" y="0"/>
                </a:lnTo>
                <a:close/>
              </a:path>
            </a:pathLst>
          </a:custGeom>
          <a:blipFill>
            <a:blip r:embed="rId3">
              <a:extLst>
                <a:ext uri="{96DAC541-7B7A-43D3-8B79-37D633B846F1}">
                  <asvg:svgBlip xmlns:asvg="http://schemas.microsoft.com/office/drawing/2016/SVG/main" r:embed="rId4"/>
                </a:ext>
              </a:extLst>
            </a:blip>
            <a:stretch>
              <a:fillRect l="-35" r="-36"/>
            </a:stretch>
          </a:blipFill>
        </p:spPr>
      </p:sp>
      <p:sp>
        <p:nvSpPr>
          <p:cNvPr id="5" name="TextBox 5"/>
          <p:cNvSpPr txBox="1"/>
          <p:nvPr/>
        </p:nvSpPr>
        <p:spPr>
          <a:xfrm>
            <a:off x="7156904" y="1066800"/>
            <a:ext cx="4278992" cy="480346"/>
          </a:xfrm>
          <a:prstGeom prst="rect">
            <a:avLst/>
          </a:prstGeom>
        </p:spPr>
        <p:txBody>
          <a:bodyPr lIns="0" tIns="0" rIns="0" bIns="0" rtlCol="0" anchor="t">
            <a:spAutoFit/>
          </a:bodyPr>
          <a:lstStyle/>
          <a:p>
            <a:pPr algn="l">
              <a:lnSpc>
                <a:spcPts val="3300"/>
              </a:lnSpc>
            </a:pPr>
            <a:r>
              <a:rPr lang="en-US" sz="3000" b="1">
                <a:solidFill>
                  <a:srgbClr val="1D1D1B"/>
                </a:solidFill>
                <a:latin typeface="Agrandir Bold"/>
                <a:ea typeface="Agrandir Bold"/>
                <a:cs typeface="Agrandir Bold"/>
                <a:sym typeface="Agrandir Bold"/>
              </a:rPr>
              <a:t>Dataset Overview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028700" y="781050"/>
            <a:ext cx="6103277" cy="1162050"/>
          </a:xfrm>
          <a:prstGeom prst="rect">
            <a:avLst/>
          </a:prstGeom>
        </p:spPr>
        <p:txBody>
          <a:bodyPr lIns="0" tIns="0" rIns="0" bIns="0" rtlCol="0" anchor="t">
            <a:spAutoFit/>
          </a:bodyPr>
          <a:lstStyle/>
          <a:p>
            <a:pPr algn="l">
              <a:lnSpc>
                <a:spcPts val="6600"/>
              </a:lnSpc>
            </a:pPr>
            <a:r>
              <a:rPr lang="en-US" sz="6000" b="1">
                <a:solidFill>
                  <a:srgbClr val="1D1D1B"/>
                </a:solidFill>
                <a:latin typeface="Agrandir Bold"/>
                <a:ea typeface="Agrandir Bold"/>
                <a:cs typeface="Agrandir Bold"/>
                <a:sym typeface="Agrandir Bold"/>
              </a:rPr>
              <a:t>Project Pipeline</a:t>
            </a:r>
          </a:p>
        </p:txBody>
      </p:sp>
      <p:sp>
        <p:nvSpPr>
          <p:cNvPr id="3" name="TextBox 3"/>
          <p:cNvSpPr txBox="1"/>
          <p:nvPr/>
        </p:nvSpPr>
        <p:spPr>
          <a:xfrm>
            <a:off x="1028700" y="3813444"/>
            <a:ext cx="4003719" cy="3712170"/>
          </a:xfrm>
          <a:prstGeom prst="rect">
            <a:avLst/>
          </a:prstGeom>
        </p:spPr>
        <p:txBody>
          <a:bodyPr lIns="0" tIns="0" rIns="0" bIns="0" rtlCol="0" anchor="t">
            <a:spAutoFit/>
          </a:bodyPr>
          <a:lstStyle/>
          <a:p>
            <a:pPr algn="ctr">
              <a:lnSpc>
                <a:spcPts val="2940"/>
              </a:lnSpc>
            </a:pPr>
            <a:r>
              <a:rPr lang="en-US" sz="2400" b="1" dirty="0">
                <a:solidFill>
                  <a:srgbClr val="1D1D1B"/>
                </a:solidFill>
                <a:latin typeface="Poppins Bold"/>
                <a:ea typeface="Poppins Bold"/>
                <a:cs typeface="Poppins Bold"/>
                <a:sym typeface="Poppins Bold"/>
              </a:rPr>
              <a:t>Stage 1: Understand Hangzhou Dataset Structure </a:t>
            </a:r>
          </a:p>
          <a:p>
            <a:pPr algn="ctr">
              <a:lnSpc>
                <a:spcPts val="2940"/>
              </a:lnSpc>
            </a:pPr>
            <a:r>
              <a:rPr lang="en-US" sz="2400" b="1" dirty="0">
                <a:solidFill>
                  <a:srgbClr val="1D1D1B"/>
                </a:solidFill>
                <a:latin typeface="Poppins Bold"/>
                <a:ea typeface="Poppins Bold"/>
                <a:cs typeface="Poppins Bold"/>
                <a:sym typeface="Poppins Bold"/>
              </a:rPr>
              <a:t>│</a:t>
            </a:r>
          </a:p>
          <a:p>
            <a:pPr algn="ctr">
              <a:lnSpc>
                <a:spcPts val="2940"/>
              </a:lnSpc>
            </a:pPr>
            <a:r>
              <a:rPr lang="en-US" sz="2400" b="1" dirty="0">
                <a:solidFill>
                  <a:srgbClr val="1D1D1B"/>
                </a:solidFill>
                <a:latin typeface="Poppins Bold"/>
                <a:ea typeface="Poppins Bold"/>
                <a:cs typeface="Poppins Bold"/>
                <a:sym typeface="Poppins Bold"/>
              </a:rPr>
              <a:t> ▼</a:t>
            </a:r>
          </a:p>
          <a:p>
            <a:pPr algn="ctr">
              <a:lnSpc>
                <a:spcPts val="2940"/>
              </a:lnSpc>
            </a:pPr>
            <a:r>
              <a:rPr lang="en-US" sz="2400" b="1" dirty="0">
                <a:solidFill>
                  <a:srgbClr val="1D1D1B"/>
                </a:solidFill>
                <a:latin typeface="Poppins Bold"/>
                <a:ea typeface="Poppins Bold"/>
                <a:cs typeface="Poppins Bold"/>
                <a:sym typeface="Poppins Bold"/>
              </a:rPr>
              <a:t>Stage 2: Parse JSON Files │</a:t>
            </a:r>
          </a:p>
          <a:p>
            <a:pPr algn="ctr">
              <a:lnSpc>
                <a:spcPts val="2940"/>
              </a:lnSpc>
            </a:pPr>
            <a:r>
              <a:rPr lang="en-US" sz="2400" b="1" dirty="0">
                <a:solidFill>
                  <a:srgbClr val="1D1D1B"/>
                </a:solidFill>
                <a:latin typeface="Poppins Bold"/>
                <a:ea typeface="Poppins Bold"/>
                <a:cs typeface="Poppins Bold"/>
                <a:sym typeface="Poppins Bold"/>
              </a:rPr>
              <a:t> ▼</a:t>
            </a:r>
          </a:p>
          <a:p>
            <a:pPr algn="ctr">
              <a:lnSpc>
                <a:spcPts val="2940"/>
              </a:lnSpc>
            </a:pPr>
            <a:r>
              <a:rPr lang="en-US" sz="2400" b="1" dirty="0">
                <a:solidFill>
                  <a:srgbClr val="1D1D1B"/>
                </a:solidFill>
                <a:latin typeface="Poppins Bold"/>
                <a:ea typeface="Poppins Bold"/>
                <a:cs typeface="Poppins Bold"/>
                <a:sym typeface="Poppins Bold"/>
              </a:rPr>
              <a:t>Stage 3: Build Traffic Simulation Environment </a:t>
            </a:r>
          </a:p>
        </p:txBody>
      </p:sp>
      <p:sp>
        <p:nvSpPr>
          <p:cNvPr id="4" name="TextBox 4"/>
          <p:cNvSpPr txBox="1"/>
          <p:nvPr/>
        </p:nvSpPr>
        <p:spPr>
          <a:xfrm>
            <a:off x="6248400" y="4076700"/>
            <a:ext cx="4208031" cy="3712170"/>
          </a:xfrm>
          <a:prstGeom prst="rect">
            <a:avLst/>
          </a:prstGeom>
        </p:spPr>
        <p:txBody>
          <a:bodyPr lIns="0" tIns="0" rIns="0" bIns="0" rtlCol="0" anchor="t">
            <a:spAutoFit/>
          </a:bodyPr>
          <a:lstStyle/>
          <a:p>
            <a:pPr algn="ctr">
              <a:lnSpc>
                <a:spcPts val="2940"/>
              </a:lnSpc>
            </a:pPr>
            <a:r>
              <a:rPr lang="en-US" sz="2400" b="1" dirty="0">
                <a:solidFill>
                  <a:srgbClr val="1D1D1B"/>
                </a:solidFill>
                <a:latin typeface="Poppins Bold"/>
                <a:ea typeface="Poppins Bold"/>
                <a:cs typeface="Poppins Bold"/>
                <a:sym typeface="Poppins Bold"/>
              </a:rPr>
              <a:t>Stage 4: Design State Representation</a:t>
            </a:r>
          </a:p>
          <a:p>
            <a:pPr algn="ctr">
              <a:lnSpc>
                <a:spcPts val="2940"/>
              </a:lnSpc>
            </a:pPr>
            <a:r>
              <a:rPr lang="en-US" sz="2400" b="1" dirty="0">
                <a:solidFill>
                  <a:srgbClr val="1D1D1B"/>
                </a:solidFill>
                <a:latin typeface="Poppins Bold"/>
                <a:ea typeface="Poppins Bold"/>
                <a:cs typeface="Poppins Bold"/>
                <a:sym typeface="Poppins Bold"/>
              </a:rPr>
              <a:t> │</a:t>
            </a:r>
          </a:p>
          <a:p>
            <a:pPr algn="ctr">
              <a:lnSpc>
                <a:spcPts val="2940"/>
              </a:lnSpc>
            </a:pPr>
            <a:r>
              <a:rPr lang="en-US" sz="2400" b="1" dirty="0">
                <a:solidFill>
                  <a:srgbClr val="1D1D1B"/>
                </a:solidFill>
                <a:latin typeface="Poppins Bold"/>
                <a:ea typeface="Poppins Bold"/>
                <a:cs typeface="Poppins Bold"/>
                <a:sym typeface="Poppins Bold"/>
              </a:rPr>
              <a:t> ▼</a:t>
            </a:r>
          </a:p>
          <a:p>
            <a:pPr algn="ctr">
              <a:lnSpc>
                <a:spcPts val="2940"/>
              </a:lnSpc>
            </a:pPr>
            <a:r>
              <a:rPr lang="en-US" sz="2400" b="1" dirty="0">
                <a:solidFill>
                  <a:srgbClr val="1D1D1B"/>
                </a:solidFill>
                <a:latin typeface="Poppins Bold"/>
                <a:ea typeface="Poppins Bold"/>
                <a:cs typeface="Poppins Bold"/>
                <a:sym typeface="Poppins Bold"/>
              </a:rPr>
              <a:t>Stage 5: Define Action and Reward Structure </a:t>
            </a:r>
          </a:p>
          <a:p>
            <a:pPr algn="ctr">
              <a:lnSpc>
                <a:spcPts val="2940"/>
              </a:lnSpc>
            </a:pPr>
            <a:r>
              <a:rPr lang="en-US" sz="2400" b="1" dirty="0">
                <a:solidFill>
                  <a:srgbClr val="1D1D1B"/>
                </a:solidFill>
                <a:latin typeface="Poppins Bold"/>
                <a:ea typeface="Poppins Bold"/>
                <a:cs typeface="Poppins Bold"/>
                <a:sym typeface="Poppins Bold"/>
              </a:rPr>
              <a:t>│</a:t>
            </a:r>
          </a:p>
          <a:p>
            <a:pPr algn="ctr">
              <a:lnSpc>
                <a:spcPts val="2940"/>
              </a:lnSpc>
            </a:pPr>
            <a:r>
              <a:rPr lang="en-US" sz="2400" b="1" dirty="0">
                <a:solidFill>
                  <a:srgbClr val="1D1D1B"/>
                </a:solidFill>
                <a:latin typeface="Poppins Bold"/>
                <a:ea typeface="Poppins Bold"/>
                <a:cs typeface="Poppins Bold"/>
                <a:sym typeface="Poppins Bold"/>
              </a:rPr>
              <a:t> ▼</a:t>
            </a:r>
          </a:p>
          <a:p>
            <a:pPr algn="ctr">
              <a:lnSpc>
                <a:spcPts val="2940"/>
              </a:lnSpc>
            </a:pPr>
            <a:r>
              <a:rPr lang="en-US" sz="2400" b="1" dirty="0">
                <a:solidFill>
                  <a:srgbClr val="1D1D1B"/>
                </a:solidFill>
                <a:latin typeface="Poppins Bold"/>
                <a:ea typeface="Poppins Bold"/>
                <a:cs typeface="Poppins Bold"/>
                <a:sym typeface="Poppins Bold"/>
              </a:rPr>
              <a:t>Stage 6: Implement PPO Agent </a:t>
            </a:r>
          </a:p>
        </p:txBody>
      </p:sp>
      <p:sp>
        <p:nvSpPr>
          <p:cNvPr id="5" name="TextBox 5"/>
          <p:cNvSpPr txBox="1"/>
          <p:nvPr/>
        </p:nvSpPr>
        <p:spPr>
          <a:xfrm>
            <a:off x="12268200" y="3405496"/>
            <a:ext cx="4785246" cy="6672917"/>
          </a:xfrm>
          <a:prstGeom prst="rect">
            <a:avLst/>
          </a:prstGeom>
        </p:spPr>
        <p:txBody>
          <a:bodyPr lIns="0" tIns="0" rIns="0" bIns="0" rtlCol="0" anchor="t">
            <a:spAutoFit/>
          </a:bodyPr>
          <a:lstStyle/>
          <a:p>
            <a:pPr algn="ctr">
              <a:lnSpc>
                <a:spcPts val="2940"/>
              </a:lnSpc>
            </a:pPr>
            <a:r>
              <a:rPr lang="en-US" sz="2000" b="1" dirty="0">
                <a:solidFill>
                  <a:srgbClr val="1D1D1B"/>
                </a:solidFill>
                <a:latin typeface="Poppins Bold"/>
                <a:ea typeface="Poppins Bold"/>
                <a:cs typeface="Poppins Bold"/>
                <a:sym typeface="Poppins Bold"/>
              </a:rPr>
              <a:t>Stage 7: Train Agent on Simulation </a:t>
            </a:r>
          </a:p>
          <a:p>
            <a:pPr algn="ctr">
              <a:lnSpc>
                <a:spcPts val="2940"/>
              </a:lnSpc>
            </a:pPr>
            <a:r>
              <a:rPr lang="en-US" sz="2000" b="1" dirty="0">
                <a:solidFill>
                  <a:srgbClr val="1D1D1B"/>
                </a:solidFill>
                <a:latin typeface="Poppins Bold"/>
                <a:ea typeface="Poppins Bold"/>
                <a:cs typeface="Poppins Bold"/>
                <a:sym typeface="Poppins Bold"/>
              </a:rPr>
              <a:t>│</a:t>
            </a:r>
          </a:p>
          <a:p>
            <a:pPr algn="ctr">
              <a:lnSpc>
                <a:spcPts val="2940"/>
              </a:lnSpc>
            </a:pP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1D1D1B"/>
                </a:solidFill>
                <a:latin typeface="Poppins Bold"/>
                <a:ea typeface="Poppins Bold"/>
                <a:cs typeface="Poppins Bold"/>
                <a:sym typeface="Poppins Bold"/>
              </a:rPr>
              <a:t>Stage 8: Hyperparameter Tuning </a:t>
            </a:r>
          </a:p>
          <a:p>
            <a:pPr algn="ctr">
              <a:lnSpc>
                <a:spcPts val="2940"/>
              </a:lnSpc>
            </a:pPr>
            <a:r>
              <a:rPr lang="en-US" sz="2000" b="1" dirty="0">
                <a:solidFill>
                  <a:srgbClr val="1D1D1B"/>
                </a:solidFill>
                <a:latin typeface="Poppins Bold"/>
                <a:ea typeface="Poppins Bold"/>
                <a:cs typeface="Poppins Bold"/>
                <a:sym typeface="Poppins Bold"/>
              </a:rPr>
              <a:t>│</a:t>
            </a:r>
          </a:p>
          <a:p>
            <a:pPr algn="ctr">
              <a:lnSpc>
                <a:spcPts val="2940"/>
              </a:lnSpc>
            </a:pP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1D1D1B"/>
                </a:solidFill>
                <a:latin typeface="Poppins Bold"/>
                <a:ea typeface="Poppins Bold"/>
                <a:cs typeface="Poppins Bold"/>
                <a:sym typeface="Poppins Bold"/>
              </a:rPr>
              <a:t>Stage 9: Evaluate Performance</a:t>
            </a:r>
          </a:p>
          <a:p>
            <a:pPr algn="ctr">
              <a:lnSpc>
                <a:spcPts val="2940"/>
              </a:lnSpc>
            </a:pP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000000"/>
                </a:solidFill>
                <a:latin typeface="Poppins Bold"/>
                <a:ea typeface="Poppins Bold"/>
                <a:cs typeface="Poppins Bold"/>
                <a:sym typeface="Poppins Bold"/>
              </a:rPr>
              <a:t>Stage 10: Analyze and Document Results</a:t>
            </a: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1D1D1B"/>
                </a:solidFill>
                <a:latin typeface="Poppins Bold"/>
                <a:ea typeface="Poppins Bold"/>
                <a:cs typeface="Poppins Bold"/>
                <a:sym typeface="Poppins Bold"/>
              </a:rPr>
              <a:t>│</a:t>
            </a:r>
          </a:p>
          <a:p>
            <a:pPr algn="ctr">
              <a:lnSpc>
                <a:spcPts val="2940"/>
              </a:lnSpc>
            </a:pPr>
            <a:r>
              <a:rPr lang="en-US" sz="2000" b="1" dirty="0">
                <a:solidFill>
                  <a:srgbClr val="1D1D1B"/>
                </a:solidFill>
                <a:latin typeface="Poppins Bold"/>
                <a:ea typeface="Poppins Bold"/>
                <a:cs typeface="Poppins Bold"/>
                <a:sym typeface="Poppins Bold"/>
              </a:rPr>
              <a:t>▼</a:t>
            </a:r>
          </a:p>
          <a:p>
            <a:pPr algn="ctr">
              <a:lnSpc>
                <a:spcPts val="2940"/>
              </a:lnSpc>
            </a:pPr>
            <a:r>
              <a:rPr lang="en-US" sz="2000" b="1" dirty="0">
                <a:solidFill>
                  <a:srgbClr val="1D1D1B"/>
                </a:solidFill>
                <a:latin typeface="Poppins Bold"/>
                <a:ea typeface="Poppins Bold"/>
                <a:cs typeface="Poppins Bold"/>
                <a:sym typeface="Poppins Bold"/>
              </a:rPr>
              <a:t>Reward Calculation</a:t>
            </a:r>
          </a:p>
          <a:p>
            <a:pPr algn="ctr">
              <a:lnSpc>
                <a:spcPts val="2940"/>
              </a:lnSpc>
            </a:pP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1D1D1B"/>
                </a:solidFill>
                <a:latin typeface="Poppins Bold"/>
                <a:ea typeface="Poppins Bold"/>
                <a:cs typeface="Poppins Bold"/>
                <a:sym typeface="Poppins Bold"/>
              </a:rPr>
              <a:t> ▼</a:t>
            </a:r>
          </a:p>
          <a:p>
            <a:pPr algn="ctr">
              <a:lnSpc>
                <a:spcPts val="2940"/>
              </a:lnSpc>
            </a:pPr>
            <a:r>
              <a:rPr lang="en-US" sz="2000" b="1" dirty="0">
                <a:solidFill>
                  <a:srgbClr val="000000"/>
                </a:solidFill>
                <a:latin typeface="Poppins Bold"/>
                <a:ea typeface="Poppins Bold"/>
                <a:cs typeface="Poppins Bold"/>
                <a:sym typeface="Poppins Bold"/>
              </a:rPr>
              <a:t>Policy Update (Training)</a:t>
            </a:r>
          </a:p>
          <a:p>
            <a:pPr algn="ctr">
              <a:lnSpc>
                <a:spcPts val="2940"/>
              </a:lnSpc>
            </a:pPr>
            <a:r>
              <a:rPr lang="en-US" sz="2000" b="1" dirty="0">
                <a:solidFill>
                  <a:srgbClr val="000000"/>
                </a:solidFill>
                <a:latin typeface="Poppins Bold"/>
                <a:ea typeface="Poppins Bold"/>
                <a:cs typeface="Poppins Bold"/>
                <a:sym typeface="Poppins Bold"/>
              </a:rPr>
              <a:t>                                  └──── repeat</a:t>
            </a:r>
          </a:p>
        </p:txBody>
      </p:sp>
      <p:sp>
        <p:nvSpPr>
          <p:cNvPr id="6" name="Freeform 6"/>
          <p:cNvSpPr/>
          <p:nvPr/>
        </p:nvSpPr>
        <p:spPr>
          <a:xfrm>
            <a:off x="2582150" y="2556257"/>
            <a:ext cx="945861" cy="908542"/>
          </a:xfrm>
          <a:custGeom>
            <a:avLst/>
            <a:gdLst/>
            <a:ahLst/>
            <a:cxnLst/>
            <a:rect l="l" t="t" r="r" b="b"/>
            <a:pathLst>
              <a:path w="945861" h="908542">
                <a:moveTo>
                  <a:pt x="0" y="0"/>
                </a:moveTo>
                <a:lnTo>
                  <a:pt x="945861" y="0"/>
                </a:lnTo>
                <a:lnTo>
                  <a:pt x="945861" y="908542"/>
                </a:lnTo>
                <a:lnTo>
                  <a:pt x="0" y="9085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7848600" y="2556257"/>
            <a:ext cx="945861" cy="908542"/>
          </a:xfrm>
          <a:custGeom>
            <a:avLst/>
            <a:gdLst/>
            <a:ahLst/>
            <a:cxnLst/>
            <a:rect l="l" t="t" r="r" b="b"/>
            <a:pathLst>
              <a:path w="945861" h="908542">
                <a:moveTo>
                  <a:pt x="0" y="0"/>
                </a:moveTo>
                <a:lnTo>
                  <a:pt x="945861" y="0"/>
                </a:lnTo>
                <a:lnTo>
                  <a:pt x="945861" y="908542"/>
                </a:lnTo>
                <a:lnTo>
                  <a:pt x="0" y="9085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3944600" y="2470866"/>
            <a:ext cx="945861" cy="908542"/>
          </a:xfrm>
          <a:custGeom>
            <a:avLst/>
            <a:gdLst/>
            <a:ahLst/>
            <a:cxnLst/>
            <a:rect l="l" t="t" r="r" b="b"/>
            <a:pathLst>
              <a:path w="945861" h="908542">
                <a:moveTo>
                  <a:pt x="0" y="0"/>
                </a:moveTo>
                <a:lnTo>
                  <a:pt x="945861" y="0"/>
                </a:lnTo>
                <a:lnTo>
                  <a:pt x="945861" y="908542"/>
                </a:lnTo>
                <a:lnTo>
                  <a:pt x="0" y="9085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460639" y="2499298"/>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1</a:t>
            </a:r>
          </a:p>
        </p:txBody>
      </p:sp>
      <p:sp>
        <p:nvSpPr>
          <p:cNvPr id="10" name="TextBox 10"/>
          <p:cNvSpPr txBox="1"/>
          <p:nvPr/>
        </p:nvSpPr>
        <p:spPr>
          <a:xfrm>
            <a:off x="7727090" y="2499298"/>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2</a:t>
            </a:r>
          </a:p>
        </p:txBody>
      </p:sp>
      <p:sp>
        <p:nvSpPr>
          <p:cNvPr id="11" name="TextBox 11"/>
          <p:cNvSpPr txBox="1"/>
          <p:nvPr/>
        </p:nvSpPr>
        <p:spPr>
          <a:xfrm>
            <a:off x="13823089" y="2413907"/>
            <a:ext cx="1188882" cy="880110"/>
          </a:xfrm>
          <a:prstGeom prst="rect">
            <a:avLst/>
          </a:prstGeom>
        </p:spPr>
        <p:txBody>
          <a:bodyPr lIns="0" tIns="0" rIns="0" bIns="0" rtlCol="0" anchor="t">
            <a:spAutoFit/>
          </a:bodyPr>
          <a:lstStyle/>
          <a:p>
            <a:pPr algn="ctr">
              <a:lnSpc>
                <a:spcPts val="5280"/>
              </a:lnSpc>
            </a:pPr>
            <a:r>
              <a:rPr lang="en-US" sz="4800" b="1">
                <a:solidFill>
                  <a:srgbClr val="FCF5F5"/>
                </a:solidFill>
                <a:latin typeface="Agrandir Bold"/>
                <a:ea typeface="Agrandir Bold"/>
                <a:cs typeface="Agrandir Bold"/>
                <a:sym typeface="Agrandir Bold"/>
              </a:rPr>
              <a:t>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1882523" y="779183"/>
            <a:ext cx="5340877" cy="5488000"/>
          </a:xfrm>
          <a:custGeom>
            <a:avLst/>
            <a:gdLst/>
            <a:ahLst/>
            <a:cxnLst/>
            <a:rect l="l" t="t" r="r" b="b"/>
            <a:pathLst>
              <a:path w="5340877" h="5488000">
                <a:moveTo>
                  <a:pt x="0" y="0"/>
                </a:moveTo>
                <a:lnTo>
                  <a:pt x="5340877" y="0"/>
                </a:lnTo>
                <a:lnTo>
                  <a:pt x="5340877" y="5488000"/>
                </a:lnTo>
                <a:lnTo>
                  <a:pt x="0" y="548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643852" y="-1218305"/>
            <a:ext cx="1000296" cy="6397257"/>
          </a:xfrm>
          <a:custGeom>
            <a:avLst/>
            <a:gdLst/>
            <a:ahLst/>
            <a:cxnLst/>
            <a:rect l="l" t="t" r="r" b="b"/>
            <a:pathLst>
              <a:path w="1000296" h="6397257">
                <a:moveTo>
                  <a:pt x="0" y="0"/>
                </a:moveTo>
                <a:lnTo>
                  <a:pt x="1000296" y="0"/>
                </a:lnTo>
                <a:lnTo>
                  <a:pt x="1000296" y="6397257"/>
                </a:lnTo>
                <a:lnTo>
                  <a:pt x="0" y="6397257"/>
                </a:lnTo>
                <a:lnTo>
                  <a:pt x="0" y="0"/>
                </a:lnTo>
                <a:close/>
              </a:path>
            </a:pathLst>
          </a:custGeom>
          <a:blipFill>
            <a:blip r:embed="rId4">
              <a:extLst>
                <a:ext uri="{96DAC541-7B7A-43D3-8B79-37D633B846F1}">
                  <asvg:svgBlip xmlns:asvg="http://schemas.microsoft.com/office/drawing/2016/SVG/main" r:embed="rId5"/>
                </a:ext>
              </a:extLst>
            </a:blip>
            <a:stretch>
              <a:fillRect l="-439" r="-438"/>
            </a:stretch>
          </a:blipFill>
        </p:spPr>
      </p:sp>
      <p:sp>
        <p:nvSpPr>
          <p:cNvPr id="4" name="Freeform 4"/>
          <p:cNvSpPr/>
          <p:nvPr/>
        </p:nvSpPr>
        <p:spPr>
          <a:xfrm>
            <a:off x="8643852" y="5108057"/>
            <a:ext cx="1000296" cy="6397257"/>
          </a:xfrm>
          <a:custGeom>
            <a:avLst/>
            <a:gdLst/>
            <a:ahLst/>
            <a:cxnLst/>
            <a:rect l="l" t="t" r="r" b="b"/>
            <a:pathLst>
              <a:path w="1000296" h="6397257">
                <a:moveTo>
                  <a:pt x="0" y="0"/>
                </a:moveTo>
                <a:lnTo>
                  <a:pt x="1000296" y="0"/>
                </a:lnTo>
                <a:lnTo>
                  <a:pt x="1000296" y="6397257"/>
                </a:lnTo>
                <a:lnTo>
                  <a:pt x="0" y="6397257"/>
                </a:lnTo>
                <a:lnTo>
                  <a:pt x="0" y="0"/>
                </a:lnTo>
                <a:close/>
              </a:path>
            </a:pathLst>
          </a:custGeom>
          <a:blipFill>
            <a:blip r:embed="rId4">
              <a:extLst>
                <a:ext uri="{96DAC541-7B7A-43D3-8B79-37D633B846F1}">
                  <asvg:svgBlip xmlns:asvg="http://schemas.microsoft.com/office/drawing/2016/SVG/main" r:embed="rId5"/>
                </a:ext>
              </a:extLst>
            </a:blip>
            <a:stretch>
              <a:fillRect l="-439" r="-438"/>
            </a:stretch>
          </a:blipFill>
        </p:spPr>
      </p:sp>
      <p:sp>
        <p:nvSpPr>
          <p:cNvPr id="5" name="Freeform 5"/>
          <p:cNvSpPr/>
          <p:nvPr/>
        </p:nvSpPr>
        <p:spPr>
          <a:xfrm>
            <a:off x="9370347" y="7752521"/>
            <a:ext cx="4099893" cy="2534479"/>
          </a:xfrm>
          <a:custGeom>
            <a:avLst/>
            <a:gdLst/>
            <a:ahLst/>
            <a:cxnLst/>
            <a:rect l="l" t="t" r="r" b="b"/>
            <a:pathLst>
              <a:path w="4099893" h="2534479">
                <a:moveTo>
                  <a:pt x="0" y="0"/>
                </a:moveTo>
                <a:lnTo>
                  <a:pt x="4099893" y="0"/>
                </a:lnTo>
                <a:lnTo>
                  <a:pt x="4099893" y="2534479"/>
                </a:lnTo>
                <a:lnTo>
                  <a:pt x="0" y="2534479"/>
                </a:lnTo>
                <a:lnTo>
                  <a:pt x="0" y="0"/>
                </a:lnTo>
                <a:close/>
              </a:path>
            </a:pathLst>
          </a:custGeom>
          <a:blipFill>
            <a:blip r:embed="rId6">
              <a:extLst>
                <a:ext uri="{96DAC541-7B7A-43D3-8B79-37D633B846F1}">
                  <asvg:svgBlip xmlns:asvg="http://schemas.microsoft.com/office/drawing/2016/SVG/main" r:embed="rId7"/>
                </a:ext>
              </a:extLst>
            </a:blip>
            <a:stretch>
              <a:fillRect t="-105" b="-105"/>
            </a:stretch>
          </a:blipFill>
        </p:spPr>
      </p:sp>
      <p:sp>
        <p:nvSpPr>
          <p:cNvPr id="6" name="TextBox 6"/>
          <p:cNvSpPr txBox="1"/>
          <p:nvPr/>
        </p:nvSpPr>
        <p:spPr>
          <a:xfrm>
            <a:off x="12808220" y="1644196"/>
            <a:ext cx="3489484" cy="3912232"/>
          </a:xfrm>
          <a:prstGeom prst="rect">
            <a:avLst/>
          </a:prstGeom>
        </p:spPr>
        <p:txBody>
          <a:bodyPr lIns="0" tIns="0" rIns="0" bIns="0" rtlCol="0" anchor="t">
            <a:spAutoFit/>
          </a:bodyPr>
          <a:lstStyle/>
          <a:p>
            <a:pPr algn="ctr">
              <a:lnSpc>
                <a:spcPts val="4339"/>
              </a:lnSpc>
            </a:pPr>
            <a:r>
              <a:rPr lang="en-US" sz="3099" b="1">
                <a:solidFill>
                  <a:srgbClr val="FCF5F5"/>
                </a:solidFill>
                <a:latin typeface="Poppins Bold"/>
                <a:ea typeface="Poppins Bold"/>
                <a:cs typeface="Poppins Bold"/>
                <a:sym typeface="Poppins Bold"/>
              </a:rPr>
              <a:t>We are pleased to hear your questions!</a:t>
            </a:r>
          </a:p>
          <a:p>
            <a:pPr algn="ctr">
              <a:lnSpc>
                <a:spcPts val="4339"/>
              </a:lnSpc>
            </a:pPr>
            <a:r>
              <a:rPr lang="en-US" sz="3099" b="1">
                <a:solidFill>
                  <a:srgbClr val="FCF5F5"/>
                </a:solidFill>
                <a:latin typeface="Poppins Bold"/>
                <a:ea typeface="Poppins Bold"/>
                <a:cs typeface="Poppins Bold"/>
                <a:sym typeface="Poppins Bold"/>
              </a:rPr>
              <a:t>if you have any question don’t keep it in your mind!</a:t>
            </a:r>
          </a:p>
        </p:txBody>
      </p:sp>
      <p:sp>
        <p:nvSpPr>
          <p:cNvPr id="7" name="TextBox 7"/>
          <p:cNvSpPr txBox="1"/>
          <p:nvPr/>
        </p:nvSpPr>
        <p:spPr>
          <a:xfrm>
            <a:off x="1905000" y="345119"/>
            <a:ext cx="5376053" cy="1233802"/>
          </a:xfrm>
          <a:prstGeom prst="rect">
            <a:avLst/>
          </a:prstGeom>
        </p:spPr>
        <p:txBody>
          <a:bodyPr lIns="0" tIns="0" rIns="0" bIns="0" rtlCol="0" anchor="t">
            <a:spAutoFit/>
          </a:bodyPr>
          <a:lstStyle/>
          <a:p>
            <a:pPr algn="l">
              <a:lnSpc>
                <a:spcPts val="7039"/>
              </a:lnSpc>
            </a:pPr>
            <a:r>
              <a:rPr lang="en-US" sz="6398" b="1">
                <a:solidFill>
                  <a:srgbClr val="1D1D1B"/>
                </a:solidFill>
                <a:latin typeface="Agrandir Bold"/>
                <a:ea typeface="Agrandir Bold"/>
                <a:cs typeface="Agrandir Bold"/>
                <a:sym typeface="Agrandir Bold"/>
              </a:rPr>
              <a:t>Arguments</a:t>
            </a:r>
          </a:p>
        </p:txBody>
      </p:sp>
      <p:sp>
        <p:nvSpPr>
          <p:cNvPr id="8" name="TextBox 8"/>
          <p:cNvSpPr txBox="1"/>
          <p:nvPr/>
        </p:nvSpPr>
        <p:spPr>
          <a:xfrm>
            <a:off x="12462253" y="7047471"/>
            <a:ext cx="4181427" cy="1233802"/>
          </a:xfrm>
          <a:prstGeom prst="rect">
            <a:avLst/>
          </a:prstGeom>
        </p:spPr>
        <p:txBody>
          <a:bodyPr lIns="0" tIns="0" rIns="0" bIns="0" rtlCol="0" anchor="t">
            <a:spAutoFit/>
          </a:bodyPr>
          <a:lstStyle/>
          <a:p>
            <a:pPr algn="l">
              <a:lnSpc>
                <a:spcPts val="7039"/>
              </a:lnSpc>
            </a:pPr>
            <a:r>
              <a:rPr lang="en-US" sz="6398" b="1">
                <a:solidFill>
                  <a:srgbClr val="1D1D1B"/>
                </a:solidFill>
                <a:latin typeface="Agrandir Bold"/>
                <a:ea typeface="Agrandir Bold"/>
                <a:cs typeface="Agrandir Bold"/>
                <a:sym typeface="Agrandir Bold"/>
              </a:rPr>
              <a:t>Thank You</a:t>
            </a:r>
          </a:p>
        </p:txBody>
      </p:sp>
      <p:sp>
        <p:nvSpPr>
          <p:cNvPr id="9" name="TextBox 9"/>
          <p:cNvSpPr txBox="1"/>
          <p:nvPr/>
        </p:nvSpPr>
        <p:spPr>
          <a:xfrm>
            <a:off x="320040" y="1512570"/>
            <a:ext cx="8232372" cy="6944916"/>
          </a:xfrm>
          <a:prstGeom prst="rect">
            <a:avLst/>
          </a:prstGeom>
        </p:spPr>
        <p:txBody>
          <a:bodyPr lIns="0" tIns="0" rIns="0" bIns="0" rtlCol="0" anchor="t">
            <a:spAutoFit/>
          </a:bodyPr>
          <a:lstStyle/>
          <a:p>
            <a:pPr algn="l">
              <a:lnSpc>
                <a:spcPts val="2160"/>
              </a:lnSpc>
            </a:pPr>
            <a:r>
              <a:rPr lang="en-US" sz="1800" b="1">
                <a:solidFill>
                  <a:srgbClr val="000000"/>
                </a:solidFill>
                <a:latin typeface="Poppins Bold"/>
                <a:ea typeface="Poppins Bold"/>
                <a:cs typeface="Poppins Bold"/>
                <a:sym typeface="Poppins Bold"/>
              </a:rPr>
              <a:t>Why This Project?</a:t>
            </a:r>
          </a:p>
          <a:p>
            <a:pPr algn="l">
              <a:lnSpc>
                <a:spcPts val="2160"/>
              </a:lnSpc>
            </a:pPr>
            <a:r>
              <a:rPr lang="en-US" sz="1800">
                <a:solidFill>
                  <a:srgbClr val="000000"/>
                </a:solidFill>
                <a:latin typeface="Canva Sans"/>
                <a:ea typeface="Canva Sans"/>
                <a:cs typeface="Canva Sans"/>
                <a:sym typeface="Canva Sans"/>
              </a:rPr>
              <a:t>Urban traffic congestion is a major challenge in modern cities.</a:t>
            </a:r>
          </a:p>
          <a:p>
            <a:pPr algn="l">
              <a:lnSpc>
                <a:spcPts val="2160"/>
              </a:lnSpc>
            </a:pPr>
            <a:r>
              <a:rPr lang="en-US" sz="1800">
                <a:solidFill>
                  <a:srgbClr val="000000"/>
                </a:solidFill>
                <a:latin typeface="Canva Sans"/>
                <a:ea typeface="Canva Sans"/>
                <a:cs typeface="Canva Sans"/>
                <a:sym typeface="Canva Sans"/>
              </a:rPr>
              <a:t>Traditional traffic lights use fixed timing plans that cannot adapt to real-time traffic conditions and dynamic environments.</a:t>
            </a:r>
          </a:p>
          <a:p>
            <a:pPr algn="l">
              <a:lnSpc>
                <a:spcPts val="2160"/>
              </a:lnSpc>
            </a:pPr>
            <a:r>
              <a:rPr lang="en-US" sz="1800">
                <a:solidFill>
                  <a:srgbClr val="000000"/>
                </a:solidFill>
                <a:latin typeface="Canva Sans"/>
                <a:ea typeface="Canva Sans"/>
                <a:cs typeface="Canva Sans"/>
                <a:sym typeface="Canva Sans"/>
              </a:rPr>
              <a:t>Recent research shows that </a:t>
            </a:r>
            <a:r>
              <a:rPr lang="en-US" sz="1800" b="1">
                <a:solidFill>
                  <a:srgbClr val="000000"/>
                </a:solidFill>
                <a:latin typeface="Canva Sans Bold"/>
                <a:ea typeface="Canva Sans Bold"/>
                <a:cs typeface="Canva Sans Bold"/>
                <a:sym typeface="Canva Sans Bold"/>
              </a:rPr>
              <a:t>Reinforcement Learning can significantly improve traffic signal control</a:t>
            </a:r>
            <a:r>
              <a:rPr lang="en-US" sz="1800">
                <a:solidFill>
                  <a:srgbClr val="000000"/>
                </a:solidFill>
                <a:latin typeface="Canva Sans"/>
                <a:ea typeface="Canva Sans"/>
                <a:cs typeface="Canva Sans"/>
                <a:sym typeface="Canva Sans"/>
              </a:rPr>
              <a:t> by learning adaptive policies based on real traffic states.</a:t>
            </a:r>
          </a:p>
          <a:p>
            <a:pPr algn="l">
              <a:lnSpc>
                <a:spcPts val="2160"/>
              </a:lnSpc>
            </a:pPr>
            <a:endParaRPr lang="en-US" sz="1800">
              <a:solidFill>
                <a:srgbClr val="000000"/>
              </a:solidFill>
              <a:latin typeface="Canva Sans"/>
              <a:ea typeface="Canva Sans"/>
              <a:cs typeface="Canva Sans"/>
              <a:sym typeface="Canva Sans"/>
            </a:endParaRPr>
          </a:p>
          <a:p>
            <a:pPr algn="l">
              <a:lnSpc>
                <a:spcPts val="2160"/>
              </a:lnSpc>
            </a:pPr>
            <a:r>
              <a:rPr lang="en-US" sz="1800" b="1">
                <a:solidFill>
                  <a:srgbClr val="000000"/>
                </a:solidFill>
                <a:latin typeface="Poppins Bold"/>
                <a:ea typeface="Poppins Bold"/>
                <a:cs typeface="Poppins Bold"/>
                <a:sym typeface="Poppins Bold"/>
              </a:rPr>
              <a:t>Expected Contributions</a:t>
            </a:r>
          </a:p>
          <a:p>
            <a:pPr algn="l">
              <a:lnSpc>
                <a:spcPts val="2160"/>
              </a:lnSpc>
            </a:pPr>
            <a:r>
              <a:rPr lang="en-US" sz="1800">
                <a:solidFill>
                  <a:srgbClr val="000000"/>
                </a:solidFill>
                <a:latin typeface="Canva Sans"/>
                <a:ea typeface="Canva Sans"/>
                <a:cs typeface="Canva Sans"/>
                <a:sym typeface="Canva Sans"/>
              </a:rPr>
              <a:t>This project aims to:</a:t>
            </a:r>
          </a:p>
          <a:p>
            <a:pPr algn="l">
              <a:lnSpc>
                <a:spcPts val="2160"/>
              </a:lnSpc>
            </a:pPr>
            <a:r>
              <a:rPr lang="en-US" sz="1800">
                <a:solidFill>
                  <a:srgbClr val="000000"/>
                </a:solidFill>
                <a:latin typeface="Canva Sans"/>
                <a:ea typeface="Canva Sans"/>
                <a:cs typeface="Canva Sans"/>
                <a:sym typeface="Canva Sans"/>
              </a:rPr>
              <a:t>Implement an adaptive traffic signal control system using Deep Reinforcement Learning.</a:t>
            </a:r>
          </a:p>
          <a:p>
            <a:pPr algn="l">
              <a:lnSpc>
                <a:spcPts val="2160"/>
              </a:lnSpc>
            </a:pPr>
            <a:r>
              <a:rPr lang="en-US" sz="1800">
                <a:solidFill>
                  <a:srgbClr val="000000"/>
                </a:solidFill>
                <a:latin typeface="Canva Sans"/>
                <a:ea typeface="Canva Sans"/>
                <a:cs typeface="Canva Sans"/>
                <a:sym typeface="Canva Sans"/>
              </a:rPr>
              <a:t>Evaluate the effectiveness of RL compared to fixed-time signal control.</a:t>
            </a:r>
          </a:p>
          <a:p>
            <a:pPr algn="l">
              <a:lnSpc>
                <a:spcPts val="2160"/>
              </a:lnSpc>
            </a:pPr>
            <a:r>
              <a:rPr lang="en-US" sz="1800">
                <a:solidFill>
                  <a:srgbClr val="000000"/>
                </a:solidFill>
                <a:latin typeface="Canva Sans"/>
                <a:ea typeface="Canva Sans"/>
                <a:cs typeface="Canva Sans"/>
                <a:sym typeface="Canva Sans"/>
              </a:rPr>
              <a:t>Demonstrate the feasibility of intelligent traffic management for smart city applications.</a:t>
            </a:r>
          </a:p>
          <a:p>
            <a:pPr algn="l">
              <a:lnSpc>
                <a:spcPts val="2160"/>
              </a:lnSpc>
            </a:pPr>
            <a:endParaRPr lang="en-US" sz="1800">
              <a:solidFill>
                <a:srgbClr val="000000"/>
              </a:solidFill>
              <a:latin typeface="Canva Sans"/>
              <a:ea typeface="Canva Sans"/>
              <a:cs typeface="Canva Sans"/>
              <a:sym typeface="Canva Sans"/>
            </a:endParaRPr>
          </a:p>
          <a:p>
            <a:pPr algn="l">
              <a:lnSpc>
                <a:spcPts val="2160"/>
              </a:lnSpc>
            </a:pPr>
            <a:r>
              <a:rPr lang="en-US" sz="1800" b="1">
                <a:solidFill>
                  <a:srgbClr val="000000"/>
                </a:solidFill>
                <a:latin typeface="Poppins Bold"/>
                <a:ea typeface="Poppins Bold"/>
                <a:cs typeface="Poppins Bold"/>
                <a:sym typeface="Poppins Bold"/>
              </a:rPr>
              <a:t>Future Extension</a:t>
            </a:r>
          </a:p>
          <a:p>
            <a:pPr algn="l">
              <a:lnSpc>
                <a:spcPts val="2160"/>
              </a:lnSpc>
            </a:pPr>
            <a:r>
              <a:rPr lang="en-US" sz="1800">
                <a:solidFill>
                  <a:srgbClr val="000000"/>
                </a:solidFill>
                <a:latin typeface="Canva Sans"/>
                <a:ea typeface="Canva Sans"/>
                <a:cs typeface="Canva Sans"/>
                <a:sym typeface="Canva Sans"/>
              </a:rPr>
              <a:t>The system can later be extended to:</a:t>
            </a:r>
          </a:p>
          <a:p>
            <a:pPr algn="l">
              <a:lnSpc>
                <a:spcPts val="2160"/>
              </a:lnSpc>
            </a:pPr>
            <a:r>
              <a:rPr lang="en-US" sz="1800">
                <a:solidFill>
                  <a:srgbClr val="000000"/>
                </a:solidFill>
                <a:latin typeface="Canva Sans"/>
                <a:ea typeface="Canva Sans"/>
                <a:cs typeface="Canva Sans"/>
                <a:sym typeface="Canva Sans"/>
              </a:rPr>
              <a:t>Multi-intersection traffic control</a:t>
            </a:r>
          </a:p>
          <a:p>
            <a:pPr algn="l">
              <a:lnSpc>
                <a:spcPts val="2160"/>
              </a:lnSpc>
            </a:pPr>
            <a:r>
              <a:rPr lang="en-US" sz="1800">
                <a:solidFill>
                  <a:srgbClr val="000000"/>
                </a:solidFill>
                <a:latin typeface="Canva Sans"/>
                <a:ea typeface="Canva Sans"/>
                <a:cs typeface="Canva Sans"/>
                <a:sym typeface="Canva Sans"/>
              </a:rPr>
              <a:t>Integration with smart city traffic management systems</a:t>
            </a:r>
          </a:p>
          <a:p>
            <a:pPr algn="l">
              <a:lnSpc>
                <a:spcPts val="2160"/>
              </a:lnSpc>
            </a:pPr>
            <a:endParaRPr lang="en-US" sz="1800">
              <a:solidFill>
                <a:srgbClr val="000000"/>
              </a:solidFill>
              <a:latin typeface="Canva Sans"/>
              <a:ea typeface="Canva Sans"/>
              <a:cs typeface="Canva Sans"/>
              <a:sym typeface="Canva Sans"/>
            </a:endParaRPr>
          </a:p>
          <a:p>
            <a:pPr algn="l">
              <a:lnSpc>
                <a:spcPts val="2160"/>
              </a:lnSpc>
            </a:pPr>
            <a:endParaRPr lang="en-US" sz="1800">
              <a:solidFill>
                <a:srgbClr val="000000"/>
              </a:solidFill>
              <a:latin typeface="Canva Sans"/>
              <a:ea typeface="Canva Sans"/>
              <a:cs typeface="Canva Sans"/>
              <a:sym typeface="Canva Sans"/>
            </a:endParaRPr>
          </a:p>
          <a:p>
            <a:pPr algn="l">
              <a:lnSpc>
                <a:spcPts val="2160"/>
              </a:lnSpc>
            </a:pPr>
            <a:endParaRPr lang="en-US" sz="1800">
              <a:solidFill>
                <a:srgbClr val="000000"/>
              </a:solidFill>
              <a:latin typeface="Canva Sans"/>
              <a:ea typeface="Canva Sans"/>
              <a:cs typeface="Canva Sans"/>
              <a:sym typeface="Canva Sans"/>
            </a:endParaRPr>
          </a:p>
          <a:p>
            <a:pPr algn="l">
              <a:lnSpc>
                <a:spcPts val="2160"/>
              </a:lnSpc>
            </a:pPr>
            <a:endParaRPr lang="en-US" sz="1800">
              <a:solidFill>
                <a:srgbClr val="000000"/>
              </a:solidFill>
              <a:latin typeface="Canva Sans"/>
              <a:ea typeface="Canva Sans"/>
              <a:cs typeface="Canva Sans"/>
              <a:sym typeface="Canva Sans"/>
            </a:endParaRPr>
          </a:p>
          <a:p>
            <a:pPr algn="l">
              <a:lnSpc>
                <a:spcPts val="2160"/>
              </a:lnSpc>
            </a:pPr>
            <a:endParaRPr lang="en-US" sz="1800">
              <a:solidFill>
                <a:srgbClr val="000000"/>
              </a:solidFill>
              <a:latin typeface="Canva Sans"/>
              <a:ea typeface="Canva Sans"/>
              <a:cs typeface="Canva Sans"/>
              <a:sym typeface="Canva Sans"/>
            </a:endParaRPr>
          </a:p>
        </p:txBody>
      </p:sp>
      <p:grpSp>
        <p:nvGrpSpPr>
          <p:cNvPr id="10" name="Group 10"/>
          <p:cNvGrpSpPr/>
          <p:nvPr/>
        </p:nvGrpSpPr>
        <p:grpSpPr>
          <a:xfrm>
            <a:off x="308776" y="6515100"/>
            <a:ext cx="7538637" cy="2031321"/>
            <a:chOff x="0" y="0"/>
            <a:chExt cx="10051517" cy="2708427"/>
          </a:xfrm>
        </p:grpSpPr>
        <p:sp>
          <p:nvSpPr>
            <p:cNvPr id="11" name="Freeform 11"/>
            <p:cNvSpPr/>
            <p:nvPr/>
          </p:nvSpPr>
          <p:spPr>
            <a:xfrm>
              <a:off x="0" y="0"/>
              <a:ext cx="10051523" cy="2708433"/>
            </a:xfrm>
            <a:custGeom>
              <a:avLst/>
              <a:gdLst/>
              <a:ahLst/>
              <a:cxnLst/>
              <a:rect l="l" t="t" r="r" b="b"/>
              <a:pathLst>
                <a:path w="10051523" h="2708433">
                  <a:moveTo>
                    <a:pt x="0" y="0"/>
                  </a:moveTo>
                  <a:lnTo>
                    <a:pt x="10051523" y="0"/>
                  </a:lnTo>
                  <a:lnTo>
                    <a:pt x="10051523" y="2708433"/>
                  </a:lnTo>
                  <a:lnTo>
                    <a:pt x="0" y="2708433"/>
                  </a:lnTo>
                  <a:close/>
                </a:path>
              </a:pathLst>
            </a:custGeom>
            <a:blipFill>
              <a:blip r:embed="rId8">
                <a:alphaModFix amt="0"/>
              </a:blip>
              <a:stretch>
                <a:fillRect t="-22312" b="-22312"/>
              </a:stretch>
            </a:blipFill>
          </p:spPr>
        </p:sp>
        <p:sp>
          <p:nvSpPr>
            <p:cNvPr id="12" name="TextBox 12"/>
            <p:cNvSpPr txBox="1"/>
            <p:nvPr/>
          </p:nvSpPr>
          <p:spPr>
            <a:xfrm>
              <a:off x="0" y="9525"/>
              <a:ext cx="10051517" cy="2698902"/>
            </a:xfrm>
            <a:prstGeom prst="rect">
              <a:avLst/>
            </a:prstGeom>
          </p:spPr>
          <p:txBody>
            <a:bodyPr lIns="0" tIns="0" rIns="0" bIns="0" rtlCol="0" anchor="ctr"/>
            <a:lstStyle/>
            <a:p>
              <a:pPr algn="l">
                <a:lnSpc>
                  <a:spcPts val="2160"/>
                </a:lnSpc>
              </a:pPr>
              <a:endParaRPr dirty="0"/>
            </a:p>
            <a:p>
              <a:pPr algn="l">
                <a:lnSpc>
                  <a:spcPts val="2160"/>
                </a:lnSpc>
              </a:pPr>
              <a:endParaRPr dirty="0"/>
            </a:p>
            <a:p>
              <a:pPr algn="l">
                <a:lnSpc>
                  <a:spcPts val="2160"/>
                </a:lnSpc>
              </a:pPr>
              <a:r>
                <a:rPr lang="en-US" sz="1800" dirty="0">
                  <a:solidFill>
                    <a:srgbClr val="000000"/>
                  </a:solidFill>
                  <a:latin typeface="Canva Sans"/>
                  <a:ea typeface="Canva Sans"/>
                  <a:cs typeface="Canva Sans"/>
                  <a:sym typeface="Canva Sans"/>
                </a:rPr>
                <a:t>Enable cooperation with other intelligent agents such as:</a:t>
              </a:r>
            </a:p>
            <a:p>
              <a:pPr algn="l">
                <a:lnSpc>
                  <a:spcPts val="2160"/>
                </a:lnSpc>
              </a:pPr>
              <a:r>
                <a:rPr lang="en-US" sz="1800" b="1" dirty="0">
                  <a:solidFill>
                    <a:srgbClr val="000000"/>
                  </a:solidFill>
                  <a:latin typeface="Canva Sans Bold"/>
                  <a:ea typeface="Canva Sans Bold"/>
                  <a:cs typeface="Canva Sans Bold"/>
                  <a:sym typeface="Canva Sans Bold"/>
                </a:rPr>
                <a:t>Parking assistant agent</a:t>
              </a:r>
              <a:r>
                <a:rPr lang="en-US" sz="1800" dirty="0">
                  <a:solidFill>
                    <a:srgbClr val="000000"/>
                  </a:solidFill>
                  <a:latin typeface="Canva Sans"/>
                  <a:ea typeface="Canva Sans"/>
                  <a:cs typeface="Canva Sans"/>
                  <a:sym typeface="Canva Sans"/>
                </a:rPr>
                <a:t> for guiding vehicles to available parking spaces.</a:t>
              </a:r>
            </a:p>
            <a:p>
              <a:pPr algn="l">
                <a:lnSpc>
                  <a:spcPts val="2160"/>
                </a:lnSpc>
              </a:pPr>
              <a:r>
                <a:rPr lang="en-US" sz="1800" b="1" dirty="0">
                  <a:solidFill>
                    <a:srgbClr val="000000"/>
                  </a:solidFill>
                  <a:latin typeface="Canva Sans Bold"/>
                  <a:ea typeface="Canva Sans Bold"/>
                  <a:cs typeface="Canva Sans Bold"/>
                  <a:sym typeface="Canva Sans Bold"/>
                </a:rPr>
                <a:t>Incident detection agent</a:t>
              </a:r>
              <a:r>
                <a:rPr lang="en-US" sz="1800" dirty="0">
                  <a:solidFill>
                    <a:srgbClr val="000000"/>
                  </a:solidFill>
                  <a:latin typeface="Canva Sans"/>
                  <a:ea typeface="Canva Sans"/>
                  <a:cs typeface="Canva Sans"/>
                  <a:sym typeface="Canva Sans"/>
                </a:rPr>
                <a:t> for handling accidents.</a:t>
              </a:r>
            </a:p>
            <a:p>
              <a:pPr algn="l">
                <a:lnSpc>
                  <a:spcPts val="2160"/>
                </a:lnSpc>
              </a:pPr>
              <a:endParaRPr lang="en-US" sz="1800" dirty="0">
                <a:solidFill>
                  <a:srgbClr val="000000"/>
                </a:solidFill>
                <a:latin typeface="Canva Sans"/>
                <a:ea typeface="Canva Sans"/>
                <a:cs typeface="Canva Sans"/>
                <a:sym typeface="Canva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2339</Words>
  <Application>Microsoft Office PowerPoint</Application>
  <PresentationFormat>Custom</PresentationFormat>
  <Paragraphs>260</Paragraphs>
  <Slides>11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Agrandir Bold</vt:lpstr>
      <vt:lpstr>Poppins</vt:lpstr>
      <vt:lpstr>Canva Sans Bold</vt:lpstr>
      <vt:lpstr>Arial</vt:lpstr>
      <vt:lpstr>Calibri</vt:lpstr>
      <vt:lpstr>Canva Sans</vt:lpstr>
      <vt:lpstr>Arimo Bold</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Presentation-Seminar1.pptx</dc:title>
  <cp:lastModifiedBy>judy dukmak</cp:lastModifiedBy>
  <cp:revision>6</cp:revision>
  <dcterms:created xsi:type="dcterms:W3CDTF">2006-08-16T00:00:00Z</dcterms:created>
  <dcterms:modified xsi:type="dcterms:W3CDTF">2026-03-14T08:10:16Z</dcterms:modified>
  <dc:identifier>DAHD2d79mCk</dc:identifier>
</cp:coreProperties>
</file>